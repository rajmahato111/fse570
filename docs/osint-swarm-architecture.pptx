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21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FSE 570 CAPSTONE  ·  SPRING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OSINT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INVESTIGATION SWARM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AI system that turns a plain-English question into a fully cited,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 financial misconduct investigation — in under 3 seconds.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063240"/>
            <a:ext cx="3291840" cy="457200"/>
          </a:xfrm>
          <a:prstGeom prst="rect">
            <a:avLst>
              <a:gd name="adj" fmla="val 10000"/>
            </a:avLst>
          </a:prstGeom>
          <a:solidFill>
            <a:srgbClr val="1E3A5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108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POWERED BY  </a:t>
            </a:r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LLAMA 3.1</a:t>
            </a:r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  ·  5 LLM POLICIES  ·  GROQ API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9776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Taljinder Singh  ·  Arnab Mitra  ·  Raj Kumar Mahto  ·  Aditya Pokharna  ·  Jacob Kuriakose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343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 ·  EVALUATION  ·  APRIL 2026</a:t>
            </a:r>
            <a:endParaRPr lang="en-US" sz="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731520"/>
            <a:ext cx="1280160" cy="128016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1945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compliance analyst spends</a:t>
            </a:r>
            <a:endParaRPr lang="en-US" sz="2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2.5 hours on one question.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Investigating whether a public company is tied to money laundering, sanctions violations, or regulatory penalties means hand-visiting five public sources, reading hundreds of filings, and writing it all up.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5029200" cy="548640"/>
          </a:xfrm>
          <a:prstGeom prst="rect">
            <a:avLst/>
          </a:prstGeom>
          <a:solidFill>
            <a:srgbClr val="0F1923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Investigate Tesla for money laundering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1645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342900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~2.5 hrs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7724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investigation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3429000"/>
            <a:ext cx="1645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342900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260604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SYSTEM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606040" y="3794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2.7 sec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60604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97680" y="3429000"/>
            <a:ext cx="1645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97680" y="3429000"/>
            <a:ext cx="54864" cy="1371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443484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3794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3,100×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43484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  <a:endParaRPr lang="en-US" sz="10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31520"/>
            <a:ext cx="1645920" cy="1645920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560320"/>
            <a:ext cx="1097280" cy="10972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DELIVERS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40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query. Four sources. Full audit trail.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920240" cy="21031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5544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· OFAC · COURT · GDELT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606040" y="1417320"/>
            <a:ext cx="1920240" cy="21031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55448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9748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1,125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269748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69748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Tesla investigation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754880" y="1417320"/>
            <a:ext cx="1920240" cy="21031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55448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4632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3400" dirty="0"/>
          </a:p>
        </p:txBody>
      </p:sp>
      <p:sp>
        <p:nvSpPr>
          <p:cNvPr id="18" name="Text 13"/>
          <p:cNvSpPr/>
          <p:nvPr/>
        </p:nvSpPr>
        <p:spPr>
          <a:xfrm>
            <a:off x="484632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84632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all findings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903720" y="1417320"/>
            <a:ext cx="1920240" cy="21031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55448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9516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2.7s</a:t>
            </a:r>
            <a:endParaRPr lang="en-US" sz="3400" dirty="0"/>
          </a:p>
        </p:txBody>
      </p:sp>
      <p:sp>
        <p:nvSpPr>
          <p:cNvPr id="23" name="Text 17"/>
          <p:cNvSpPr/>
          <p:nvPr/>
        </p:nvSpPr>
        <p:spPr>
          <a:xfrm>
            <a:off x="699516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699516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Cache-first pipeline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404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05840" y="3840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Cache-first — no API calls at runtime</a:t>
            </a:r>
            <a:endParaRPr lang="en-US" sz="10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3840480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840480" y="3840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dataclasses — immutable evidence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840480"/>
            <a:ext cx="274320" cy="2743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675120" y="38404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orchestration + deterministic evidence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Seven-and-a-half layers, top to bottom.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73152" cy="40233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005840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05840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463040" y="100584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10058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form · 5-tab results · interactive graph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499616"/>
            <a:ext cx="73152" cy="40233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99616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499616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L6½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63040" y="149961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Narrative (Llama 3.1)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0" y="149961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sectioned analyst narrative via Groq API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1993392"/>
            <a:ext cx="73152" cy="402336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1993392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199339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63040" y="19933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199339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report · risk dashboard · audit trail · metrics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2487168"/>
            <a:ext cx="73152" cy="40233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2487168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2487168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463040" y="248716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 Layer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06240" y="24871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LLM-ranked actions · cross-check · gap detection · scoring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2980944"/>
            <a:ext cx="73152" cy="40233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980944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298094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463040" y="298094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206240" y="298094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· Legal · Social Graph (LLM action policy)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3474720"/>
            <a:ext cx="73152" cy="40233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474720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474720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463040" y="347472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Agent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06240" y="347472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planner · LLM stop policy · entity resolution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3968496"/>
            <a:ext cx="73152" cy="402336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6" name="Shape 34"/>
          <p:cNvSpPr/>
          <p:nvPr/>
        </p:nvSpPr>
        <p:spPr>
          <a:xfrm>
            <a:off x="777240" y="3968496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3968496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463040" y="39684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Layer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206240" y="3968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Cache-first data access · confidence/relevance processing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4462272"/>
            <a:ext cx="73152" cy="402336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4462272"/>
            <a:ext cx="594360" cy="402336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446227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463040" y="44622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Library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206240" y="446227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· OFAC · CourtListener · GDELT raw connectors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46" name="Text 44"/>
          <p:cNvSpPr/>
          <p:nvPr/>
        </p:nvSpPr>
        <p:spPr>
          <a:xfrm>
            <a:off x="822960" y="45720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4D8"/>
                </a:solidFill>
              </a:rPr>
              <a:t>LLM-DRIVEN  </a:t>
            </a:r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Llama 3.1-8b-instant via Groq powers: Planner · Action Policy · Stop Policy · Reflexion Ranking · Final Narrative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LLM-Only Orchestration Runtime 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371600" cy="45720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11680" y="1005840"/>
            <a:ext cx="2011680" cy="45720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11680" y="1005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Agent Orchestrator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37360" y="1234440"/>
            <a:ext cx="27432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914400"/>
            <a:ext cx="1463040" cy="3657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0" y="914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Resolution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146304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1325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Planner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023360" y="1097280"/>
            <a:ext cx="274320" cy="0"/>
          </a:xfrm>
          <a:prstGeom prst="line">
            <a:avLst/>
          </a:prstGeom>
          <a:noFill/>
          <a:ln w="19050">
            <a:solidFill>
              <a:srgbClr val="90E0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23360" y="1508760"/>
            <a:ext cx="27432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5040" y="1097280"/>
            <a:ext cx="1371600" cy="41148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Queue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60720" y="1417320"/>
            <a:ext cx="274320" cy="0"/>
          </a:xfrm>
          <a:prstGeom prst="line">
            <a:avLst/>
          </a:prstGeom>
          <a:noFill/>
          <a:ln w="19050">
            <a:solidFill>
              <a:srgbClr val="90E0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1737360"/>
            <a:ext cx="8412480" cy="1234440"/>
          </a:xfrm>
          <a:prstGeom prst="rect">
            <a:avLst/>
          </a:prstGeom>
          <a:solidFill>
            <a:srgbClr val="0D2137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AGENTS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8640" y="2057400"/>
            <a:ext cx="2560320" cy="365760"/>
          </a:xfrm>
          <a:prstGeom prst="rect">
            <a:avLst/>
          </a:prstGeom>
          <a:solidFill>
            <a:srgbClr val="0077B6">
              <a:alpha val="7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Agent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2487168"/>
            <a:ext cx="2011680" cy="32004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4871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 EDGAR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057400"/>
            <a:ext cx="2560320" cy="365760"/>
          </a:xfrm>
          <a:prstGeom prst="rect">
            <a:avLst/>
          </a:prstGeom>
          <a:solidFill>
            <a:srgbClr val="8B5CF6">
              <a:alpha val="7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Agent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383280" y="2487168"/>
            <a:ext cx="2011680" cy="32004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28" name="Text 26"/>
          <p:cNvSpPr/>
          <p:nvPr/>
        </p:nvSpPr>
        <p:spPr>
          <a:xfrm>
            <a:off x="3383280" y="24871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OFAC · CourtListener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52160" y="2057400"/>
            <a:ext cx="2560320" cy="365760"/>
          </a:xfrm>
          <a:prstGeom prst="rect">
            <a:avLst/>
          </a:prstGeom>
          <a:solidFill>
            <a:srgbClr val="10B981">
              <a:alpha val="7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85216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 Agent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2487168"/>
            <a:ext cx="2011680" cy="32004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32" name="Text 30"/>
          <p:cNvSpPr/>
          <p:nvPr/>
        </p:nvSpPr>
        <p:spPr>
          <a:xfrm>
            <a:off x="6126480" y="24871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GDELT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720840" y="1508760"/>
            <a:ext cx="0" cy="22860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0" y="3154680"/>
            <a:ext cx="3657600" cy="411480"/>
          </a:xfrm>
          <a:prstGeom prst="rect">
            <a:avLst/>
          </a:prstGeom>
          <a:solidFill>
            <a:srgbClr val="0077B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743200" y="3154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Pool (structured Evidence rows)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828800" y="2971800"/>
            <a:ext cx="0" cy="182880"/>
          </a:xfrm>
          <a:prstGeom prst="line">
            <a:avLst/>
          </a:prstGeom>
          <a:noFill/>
          <a:ln w="12700">
            <a:solidFill>
              <a:srgbClr val="90E0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2971800"/>
            <a:ext cx="0" cy="182880"/>
          </a:xfrm>
          <a:prstGeom prst="line">
            <a:avLst/>
          </a:prstGeom>
          <a:noFill/>
          <a:ln w="12700">
            <a:solidFill>
              <a:srgbClr val="90E0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32320" y="2971800"/>
            <a:ext cx="0" cy="182880"/>
          </a:xfrm>
          <a:prstGeom prst="line">
            <a:avLst/>
          </a:prstGeom>
          <a:noFill/>
          <a:ln w="12700">
            <a:solidFill>
              <a:srgbClr val="90E0E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749040"/>
            <a:ext cx="5029200" cy="45720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720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Reflexion Layer  </a:t>
            </a:r>
            <a:pPr indent="0" marL="0">
              <a:buNone/>
            </a:pPr>
            <a:r>
              <a:rPr lang="en-US" sz="900" dirty="0">
                <a:solidFill>
                  <a:srgbClr val="90E0EF"/>
                </a:solidFill>
              </a:rPr>
              <a:t>Cross-check · Gap Detection · Confidence · LLM Ranking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3566160"/>
            <a:ext cx="0" cy="18288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0" y="3749040"/>
            <a:ext cx="3108960" cy="457200"/>
          </a:xfrm>
          <a:prstGeom prst="rect">
            <a:avLst/>
          </a:prstGeom>
          <a:solidFill>
            <a:srgbClr val="F59E0B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576072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923"/>
                </a:solidFill>
              </a:rPr>
              <a:t>LLM Policies  </a:t>
            </a:r>
            <a:pPr indent="0" marL="0">
              <a:buNone/>
            </a:pPr>
            <a:r>
              <a:rPr lang="en-US" sz="900" dirty="0">
                <a:solidFill>
                  <a:srgbClr val="5A4500"/>
                </a:solidFill>
              </a:rPr>
              <a:t>Action · Stop · Reflexion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4389120"/>
            <a:ext cx="2286000" cy="548640"/>
          </a:xfrm>
          <a:prstGeom prst="rect">
            <a:avLst/>
          </a:prstGeom>
          <a:solidFill>
            <a:srgbClr val="00B4D8">
              <a:alpha val="75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389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NetworkX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834640" y="4389120"/>
            <a:ext cx="2560320" cy="548640"/>
          </a:xfrm>
          <a:prstGeom prst="rect">
            <a:avLst/>
          </a:prstGeom>
          <a:solidFill>
            <a:srgbClr val="0077B6">
              <a:alpha val="7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2834640" y="4389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· Dashboard · Audit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577840" y="4389120"/>
            <a:ext cx="2560320" cy="548640"/>
          </a:xfrm>
          <a:prstGeom prst="rect">
            <a:avLst/>
          </a:prstGeom>
          <a:solidFill>
            <a:srgbClr val="F59E0B">
              <a:alpha val="75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0" y="4389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Narrative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3.1 (strict contract)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0" y="4206240"/>
            <a:ext cx="0" cy="18288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29600" y="47091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INTEGRATION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LLM policies. One model. Zero hallucinated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7863840" cy="457200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515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4D8"/>
                </a:solidFill>
              </a:rPr>
              <a:t>MODEL  </a:t>
            </a:r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Llama 3.1-8b-instant  ·  Provider: Groq API  ·  Auth: GROQ_API_KEY  ·  JSON strict mode  ·  Retry-with-repair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645920"/>
            <a:ext cx="54864" cy="1371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Planner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llm_planner.py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query into bounded SubTasks (3-5 tasks, max 2 rounds)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temp: 0.2</a:t>
            </a:r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tokens: 600</a:t>
            </a:r>
            <a:pPr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Lead Agent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74720" y="16459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1645920"/>
            <a:ext cx="54864" cy="1371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361188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Policy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11880" y="1920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action_policy.py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1188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next tool for each specialist agent per step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1188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temp: 0.1</a:t>
            </a:r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tokens: 240</a:t>
            </a:r>
            <a:pPr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Lead Agent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" y="320040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200400"/>
            <a:ext cx="54864" cy="1371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Policy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3474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orchestrator.py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if another agent round is needed or finalize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724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temp: 0.1</a:t>
            </a:r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tokens: 200</a:t>
            </a:r>
            <a:pPr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Lead Agent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74720" y="320040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3200400"/>
            <a:ext cx="54864" cy="1371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361188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 Ranking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11880" y="3474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action_reflexion.py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1188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follow-up actions after gap/conflict detection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1188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temp: 0.1</a:t>
            </a:r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tokens: 320</a:t>
            </a:r>
            <a:pPr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Reflexion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309360" y="320040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3200400"/>
            <a:ext cx="54864" cy="13716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3" name="Text 31"/>
          <p:cNvSpPr/>
          <p:nvPr/>
        </p:nvSpPr>
        <p:spPr>
          <a:xfrm>
            <a:off x="644652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Narrative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46520" y="3474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llm_narrative.py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strict 5-section analyst narrative from metrics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4652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temp: 0.2</a:t>
            </a:r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tokens: 650</a:t>
            </a:r>
            <a:pPr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App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public sources. Zero runtime cost.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920240" cy="30175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1920240" cy="54864"/>
          </a:xfrm>
          <a:prstGeom prst="rect">
            <a:avLst/>
          </a:prstGeom>
          <a:solidFill>
            <a:srgbClr val="0077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3258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920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Filings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7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548640" y="2971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filings/entity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85800" y="3383280"/>
            <a:ext cx="146304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CONF  </a:t>
            </a:r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0.75–0.95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606040" y="1097280"/>
            <a:ext cx="1920240" cy="30175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606040" y="1097280"/>
            <a:ext cx="1920240" cy="54864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697480" y="1920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OFAC SDN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69748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List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97480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18,712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2697480" y="2971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2834640" y="3383280"/>
            <a:ext cx="146304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22" name="Text 18"/>
          <p:cNvSpPr/>
          <p:nvPr/>
        </p:nvSpPr>
        <p:spPr>
          <a:xfrm>
            <a:off x="283464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CONF  </a:t>
            </a:r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0.90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4754880" y="1097280"/>
            <a:ext cx="1920240" cy="30175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4754880" y="1097280"/>
            <a:ext cx="192024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325880"/>
            <a:ext cx="502920" cy="50292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846320" y="1920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CourtListener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484632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Records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846320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2400" dirty="0"/>
          </a:p>
        </p:txBody>
      </p:sp>
      <p:sp>
        <p:nvSpPr>
          <p:cNvPr id="29" name="Text 24"/>
          <p:cNvSpPr/>
          <p:nvPr/>
        </p:nvSpPr>
        <p:spPr>
          <a:xfrm>
            <a:off x="4846320" y="2971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dockets/query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983480" y="3383280"/>
            <a:ext cx="146304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31" name="Text 26"/>
          <p:cNvSpPr/>
          <p:nvPr/>
        </p:nvSpPr>
        <p:spPr>
          <a:xfrm>
            <a:off x="498348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CONF  </a:t>
            </a:r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0.85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6903720" y="1097280"/>
            <a:ext cx="1920240" cy="301752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6903720" y="10972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325880"/>
            <a:ext cx="502920" cy="50292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995160" y="1920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GDELT 2.0</a:t>
            </a:r>
            <a:endParaRPr lang="en-US" sz="1400" dirty="0"/>
          </a:p>
        </p:txBody>
      </p:sp>
      <p:sp>
        <p:nvSpPr>
          <p:cNvPr id="36" name="Text 30"/>
          <p:cNvSpPr/>
          <p:nvPr/>
        </p:nvSpPr>
        <p:spPr>
          <a:xfrm>
            <a:off x="69951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Media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6995160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</a:t>
            </a:r>
            <a:endParaRPr lang="en-US" sz="2400" dirty="0"/>
          </a:p>
        </p:txBody>
      </p:sp>
      <p:sp>
        <p:nvSpPr>
          <p:cNvPr id="38" name="Text 32"/>
          <p:cNvSpPr/>
          <p:nvPr/>
        </p:nvSpPr>
        <p:spPr>
          <a:xfrm>
            <a:off x="6995160" y="2971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articles/query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7132320" y="3383280"/>
            <a:ext cx="146304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40" name="Text 34"/>
          <p:cNvSpPr/>
          <p:nvPr/>
        </p:nvSpPr>
        <p:spPr>
          <a:xfrm>
            <a:off x="713232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CONF  </a:t>
            </a:r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</a:rPr>
              <a:t>0.30–0.75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640080" y="4389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cached after first pull — investigations replay from disk. No API calls at runtime.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AGENTS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workers. One shared protocol. LLM-guided tool selection.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7863840" cy="411480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05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run(entity, task, context) → List[Evidence]                    LLM Action Policy selects tools per step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45920"/>
            <a:ext cx="2697480" cy="54864"/>
          </a:xfrm>
          <a:prstGeom prst="rect">
            <a:avLst/>
          </a:prstGeom>
          <a:solidFill>
            <a:srgbClr val="0077B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8308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377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Agent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788920"/>
            <a:ext cx="2331720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78892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corporate_structure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3081528"/>
            <a:ext cx="2331720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308152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sec_filings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40080" y="3374136"/>
            <a:ext cx="2331720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374136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transaction_patterns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94360" y="3803904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 → up to 500 filings + 1 governance summary. Tiered confidence by form type (8-K: 0.95, 10-K: 0.85, Form 4: 0.75).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37560" y="164592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337560" y="1645920"/>
            <a:ext cx="269748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83080"/>
            <a:ext cx="548640" cy="54864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429000" y="2377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Agent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3520440" y="2788920"/>
            <a:ext cx="2331720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19"/>
          <p:cNvSpPr/>
          <p:nvPr/>
        </p:nvSpPr>
        <p:spPr>
          <a:xfrm>
            <a:off x="3566160" y="278892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sanctions_screening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520440" y="3081528"/>
            <a:ext cx="2331720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1"/>
          <p:cNvSpPr/>
          <p:nvPr/>
        </p:nvSpPr>
        <p:spPr>
          <a:xfrm>
            <a:off x="3566160" y="308152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litigation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474720" y="351129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OFAC SDN → fuzzy match across 18,712 entries with false-positive guards. CourtListener → up to 20 federal dockets.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6217920" y="164592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217920" y="1645920"/>
            <a:ext cx="2697480" cy="54864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783080"/>
            <a:ext cx="548640" cy="54864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309360" y="2377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 Agent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6400800" y="2788920"/>
            <a:ext cx="2331720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Text 27"/>
          <p:cNvSpPr/>
          <p:nvPr/>
        </p:nvSpPr>
        <p:spPr>
          <a:xfrm>
            <a:off x="6446520" y="2788920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adverse_media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6400800" y="3081528"/>
            <a:ext cx="2331720" cy="2468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29"/>
          <p:cNvSpPr/>
          <p:nvPr/>
        </p:nvSpPr>
        <p:spPr>
          <a:xfrm>
            <a:off x="6446520" y="308152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network_analysis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6355080" y="351129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GDELT → up to 100 news articles, English-filtered, title-scored by relevance (entity + risk keyword → 0.75).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PIPELINE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plain English to cited report in 2.7 seconds.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80160" y="1143000"/>
            <a:ext cx="64008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1430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1097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Entity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10972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"Tesla" → CIK 0001318605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1540" y="1600200"/>
            <a:ext cx="0" cy="22860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80160" y="1874520"/>
            <a:ext cx="64008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Plans Tasks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89120" y="1828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3.1 → 3-5 bounded SubTasks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1540" y="2331720"/>
            <a:ext cx="0" cy="22860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280160" y="2606040"/>
            <a:ext cx="64008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2606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389120" y="25603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specialists gather 1,125 evidence rows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91540" y="3063240"/>
            <a:ext cx="0" cy="22860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80160" y="3337560"/>
            <a:ext cx="64008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29" name="Text 27"/>
          <p:cNvSpPr/>
          <p:nvPr/>
        </p:nvSpPr>
        <p:spPr>
          <a:xfrm>
            <a:off x="1280160" y="33375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03120" y="3291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 + LLM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389120" y="32918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· gaps · LLM ranking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1540" y="3794760"/>
            <a:ext cx="0" cy="22860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40080" y="4023360"/>
            <a:ext cx="502920" cy="502920"/>
          </a:xfrm>
          <a:prstGeom prst="ellipse">
            <a:avLst/>
          </a:prstGeom>
          <a:solidFill>
            <a:srgbClr val="0077B6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280160" y="4069080"/>
            <a:ext cx="640080" cy="36576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36" name="Text 34"/>
          <p:cNvSpPr/>
          <p:nvPr/>
        </p:nvSpPr>
        <p:spPr>
          <a:xfrm>
            <a:off x="1280160" y="4069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4023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+ Narrative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389120" y="4023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+ Llama 3.1 narrative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4572000"/>
            <a:ext cx="2560320" cy="45720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1,125  </a:t>
            </a:r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ROWS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3474720" y="4572000"/>
            <a:ext cx="2560320" cy="45720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  </a:t>
            </a:r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 CONFLICTS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09360" y="4572000"/>
            <a:ext cx="2560320" cy="45720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0.81  </a:t>
            </a:r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CONFIDENCE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229600" y="47091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Per-Entity Performance Metrics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7589520" cy="411480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0515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383280" y="1051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89120" y="1051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0" y="1051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0" y="1051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GDELT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32320" y="1051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463040"/>
            <a:ext cx="7589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Tesla, Inc.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03120" y="1463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Auto/Tech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2.70s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035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323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1920240"/>
            <a:ext cx="7589520" cy="4572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 Motor Co.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03120" y="19202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8912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0352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3232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377440"/>
            <a:ext cx="7589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2377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Boeing Co.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03120" y="23774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8328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2.45s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0352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1792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3232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2834640"/>
            <a:ext cx="7589520" cy="4572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2834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 Inc.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10312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383280" y="2834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389120" y="2834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2.81s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303520" y="2834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98.0%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17920" y="2834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132320" y="2834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3291840"/>
            <a:ext cx="7589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3291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JPMorgan Chase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103120" y="3291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383280" y="3291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1119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389120" y="3291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2.77s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303520" y="3291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217920" y="3291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132320" y="3291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3749040"/>
            <a:ext cx="7589520" cy="457200"/>
          </a:xfrm>
          <a:prstGeom prst="rect">
            <a:avLst/>
          </a:prstGeom>
          <a:solidFill>
            <a:srgbClr val="0F1923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2103120" y="3749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383280" y="3749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1,010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389120" y="3749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2.67s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303520" y="3749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97.7%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217920" y="3749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132320" y="3749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57200" y="4434840"/>
            <a:ext cx="7589520" cy="457200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62" name="Text 60"/>
          <p:cNvSpPr/>
          <p:nvPr/>
        </p:nvSpPr>
        <p:spPr>
          <a:xfrm>
            <a:off x="640080" y="4434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0E0EF"/>
                </a:solidFill>
              </a:rPr>
              <a:t>KEY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All 5 entities achieve full source coverage (4/4) with 97.7% average citation rate across 1,010 avg findings in 2.67s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Speedup, Confidence &amp; Test Coverage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 vs MANUAL ANALYST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4114800" cy="384048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71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 review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3716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13716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1,800×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783080"/>
            <a:ext cx="4114800" cy="38404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783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OFAC screening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03120" y="1783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17520" y="17830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0.5s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0" y="1783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2,400×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194560"/>
            <a:ext cx="4114800" cy="384048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1945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records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21945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17520" y="21945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1,800×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2606040"/>
            <a:ext cx="4114800" cy="38404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6060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media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2606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 min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17520" y="26060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0" y="2606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2,700×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017520"/>
            <a:ext cx="4114800" cy="384048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017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10312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 hrs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017520" y="30175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84048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3,100×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1005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SCORING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8-K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1444752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34" name="Shape 32"/>
          <p:cNvSpPr/>
          <p:nvPr/>
        </p:nvSpPr>
        <p:spPr>
          <a:xfrm>
            <a:off x="6858000" y="1444752"/>
            <a:ext cx="1389888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1371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0" y="1709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10-K/10-Q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58000" y="1783080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38" name="Shape 36"/>
          <p:cNvSpPr/>
          <p:nvPr/>
        </p:nvSpPr>
        <p:spPr>
          <a:xfrm>
            <a:off x="6858000" y="1783080"/>
            <a:ext cx="1243584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8366760" y="17099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29200" y="20482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DEF 14A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2121408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42" name="Shape 40"/>
          <p:cNvSpPr/>
          <p:nvPr/>
        </p:nvSpPr>
        <p:spPr>
          <a:xfrm>
            <a:off x="6858000" y="2121408"/>
            <a:ext cx="1170432" cy="1828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3" name="Text 41"/>
          <p:cNvSpPr/>
          <p:nvPr/>
        </p:nvSpPr>
        <p:spPr>
          <a:xfrm>
            <a:off x="8366760" y="204825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0" y="23865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Form 4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58000" y="2459736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46" name="Shape 44"/>
          <p:cNvSpPr/>
          <p:nvPr/>
        </p:nvSpPr>
        <p:spPr>
          <a:xfrm>
            <a:off x="6858000" y="2459736"/>
            <a:ext cx="1097280" cy="1828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7" name="Text 45"/>
          <p:cNvSpPr/>
          <p:nvPr/>
        </p:nvSpPr>
        <p:spPr>
          <a:xfrm>
            <a:off x="8366760" y="238658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0" y="2724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OFAC SDN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58000" y="2798064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8000" y="2798064"/>
            <a:ext cx="1316736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1" name="Text 49"/>
          <p:cNvSpPr/>
          <p:nvPr/>
        </p:nvSpPr>
        <p:spPr>
          <a:xfrm>
            <a:off x="8366760" y="27249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02920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CourtListener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58000" y="3136392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54" name="Shape 52"/>
          <p:cNvSpPr/>
          <p:nvPr/>
        </p:nvSpPr>
        <p:spPr>
          <a:xfrm>
            <a:off x="6858000" y="3136392"/>
            <a:ext cx="1243584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5" name="Text 53"/>
          <p:cNvSpPr/>
          <p:nvPr/>
        </p:nvSpPr>
        <p:spPr>
          <a:xfrm>
            <a:off x="8366760" y="30632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02920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GDELT (high)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58000" y="3474720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58" name="Shape 56"/>
          <p:cNvSpPr/>
          <p:nvPr/>
        </p:nvSpPr>
        <p:spPr>
          <a:xfrm>
            <a:off x="6858000" y="3474720"/>
            <a:ext cx="1097280" cy="1828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9" name="Text 57"/>
          <p:cNvSpPr/>
          <p:nvPr/>
        </p:nvSpPr>
        <p:spPr>
          <a:xfrm>
            <a:off x="8366760" y="34015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0.75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0" y="37398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GDELT (low)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0" y="3813048"/>
            <a:ext cx="1463040" cy="182880"/>
          </a:xfrm>
          <a:prstGeom prst="rect">
            <a:avLst/>
          </a:prstGeom>
          <a:solidFill>
            <a:srgbClr val="0A1A2A"/>
          </a:solidFill>
          <a:ln/>
        </p:spPr>
      </p:sp>
      <p:sp>
        <p:nvSpPr>
          <p:cNvPr id="62" name="Shape 60"/>
          <p:cNvSpPr/>
          <p:nvPr/>
        </p:nvSpPr>
        <p:spPr>
          <a:xfrm>
            <a:off x="6858000" y="3813048"/>
            <a:ext cx="438912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3" name="Text 61"/>
          <p:cNvSpPr/>
          <p:nvPr/>
        </p:nvSpPr>
        <p:spPr>
          <a:xfrm>
            <a:off x="8366760" y="37398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65" name="Text 63"/>
          <p:cNvSpPr/>
          <p:nvPr/>
        </p:nvSpPr>
        <p:spPr>
          <a:xfrm>
            <a:off x="731520" y="3840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COVERAGE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103120" y="38404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219</a:t>
            </a:r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  unit tests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across all 8 layers</a:t>
            </a:r>
            <a:endParaRPr lang="en-US" sz="2800" dirty="0"/>
          </a:p>
        </p:txBody>
      </p:sp>
      <p:sp>
        <p:nvSpPr>
          <p:cNvPr id="67" name="Shape 65"/>
          <p:cNvSpPr/>
          <p:nvPr/>
        </p:nvSpPr>
        <p:spPr>
          <a:xfrm>
            <a:off x="640080" y="4572000"/>
            <a:ext cx="1920240" cy="411480"/>
          </a:xfrm>
          <a:prstGeom prst="rect">
            <a:avLst/>
          </a:prstGeom>
          <a:solidFill>
            <a:srgbClr val="0A1A2A"/>
          </a:solidFill>
          <a:ln/>
        </p:spPr>
      </p:sp>
      <p:pic>
        <p:nvPicPr>
          <p:cNvPr id="6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626864"/>
            <a:ext cx="274320" cy="274320"/>
          </a:xfrm>
          <a:prstGeom prst="rect">
            <a:avLst/>
          </a:prstGeom>
        </p:spPr>
      </p:pic>
      <p:sp>
        <p:nvSpPr>
          <p:cNvPr id="69" name="Text 66"/>
          <p:cNvSpPr/>
          <p:nvPr/>
        </p:nvSpPr>
        <p:spPr>
          <a:xfrm>
            <a:off x="1051560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97-98% citation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2788920" y="4572000"/>
            <a:ext cx="1920240" cy="411480"/>
          </a:xfrm>
          <a:prstGeom prst="rect">
            <a:avLst/>
          </a:prstGeom>
          <a:solidFill>
            <a:srgbClr val="0A1A2A"/>
          </a:solidFill>
          <a:ln/>
        </p:spPr>
      </p:sp>
      <p:pic>
        <p:nvPicPr>
          <p:cNvPr id="7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4626864"/>
            <a:ext cx="274320" cy="274320"/>
          </a:xfrm>
          <a:prstGeom prst="rect">
            <a:avLst/>
          </a:prstGeom>
        </p:spPr>
      </p:pic>
      <p:sp>
        <p:nvSpPr>
          <p:cNvPr id="72" name="Text 68"/>
          <p:cNvSpPr/>
          <p:nvPr/>
        </p:nvSpPr>
        <p:spPr>
          <a:xfrm>
            <a:off x="3200400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 sources</a:t>
            </a:r>
            <a:endParaRPr lang="en-US" sz="1000" dirty="0"/>
          </a:p>
        </p:txBody>
      </p:sp>
      <p:sp>
        <p:nvSpPr>
          <p:cNvPr id="73" name="Shape 69"/>
          <p:cNvSpPr/>
          <p:nvPr/>
        </p:nvSpPr>
        <p:spPr>
          <a:xfrm>
            <a:off x="4937760" y="4572000"/>
            <a:ext cx="1920240" cy="411480"/>
          </a:xfrm>
          <a:prstGeom prst="rect">
            <a:avLst/>
          </a:prstGeom>
          <a:solidFill>
            <a:srgbClr val="0A1A2A"/>
          </a:solidFill>
          <a:ln/>
        </p:spPr>
      </p:sp>
      <p:pic>
        <p:nvPicPr>
          <p:cNvPr id="7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626864"/>
            <a:ext cx="274320" cy="274320"/>
          </a:xfrm>
          <a:prstGeom prst="rect">
            <a:avLst/>
          </a:prstGeom>
        </p:spPr>
      </p:pic>
      <p:sp>
        <p:nvSpPr>
          <p:cNvPr id="75" name="Text 70"/>
          <p:cNvSpPr/>
          <p:nvPr/>
        </p:nvSpPr>
        <p:spPr>
          <a:xfrm>
            <a:off x="5349240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3,100× speedup</a:t>
            </a:r>
            <a:endParaRPr lang="en-US" sz="1000" dirty="0"/>
          </a:p>
        </p:txBody>
      </p:sp>
      <p:sp>
        <p:nvSpPr>
          <p:cNvPr id="76" name="Shape 71"/>
          <p:cNvSpPr/>
          <p:nvPr/>
        </p:nvSpPr>
        <p:spPr>
          <a:xfrm>
            <a:off x="7086600" y="4572000"/>
            <a:ext cx="1920240" cy="411480"/>
          </a:xfrm>
          <a:prstGeom prst="rect">
            <a:avLst/>
          </a:prstGeom>
          <a:solidFill>
            <a:srgbClr val="0A1A2A"/>
          </a:solidFill>
          <a:ln/>
        </p:spPr>
      </p:sp>
      <p:pic>
        <p:nvPicPr>
          <p:cNvPr id="7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4626864"/>
            <a:ext cx="274320" cy="274320"/>
          </a:xfrm>
          <a:prstGeom prst="rect">
            <a:avLst/>
          </a:prstGeom>
        </p:spPr>
      </p:pic>
      <p:sp>
        <p:nvSpPr>
          <p:cNvPr id="78" name="Text 72"/>
          <p:cNvSpPr/>
          <p:nvPr/>
        </p:nvSpPr>
        <p:spPr>
          <a:xfrm>
            <a:off x="7498080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tests</a:t>
            </a:r>
            <a:endParaRPr lang="en-US" sz="1000" dirty="0"/>
          </a:p>
        </p:txBody>
      </p:sp>
      <p:sp>
        <p:nvSpPr>
          <p:cNvPr id="79" name="Text 73"/>
          <p:cNvSpPr/>
          <p:nvPr/>
        </p:nvSpPr>
        <p:spPr>
          <a:xfrm>
            <a:off x="8229600" y="47091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FRAMEWORK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criteria. All met.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05156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88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0698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&amp; Depth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34440" y="13898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rate, findings count, source coverage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0" y="10972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97-98% citation, 598-1,125 findings/entity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182880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182880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8470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Cross-Agent Verification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234440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Reflexion: cross-check, gap detection, tiered confidence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4572000" y="1874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across all 3 specialist agents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0080" y="260604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080" y="260604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2624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Generality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234440" y="2944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5 entities across 3 industries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4572000" y="26517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Auto-resolution handles any public company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40080" y="338328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338328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2044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3444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234440" y="37216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suite, deployment, runbook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4572000" y="34290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unit tests, Render deployment, full runbook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40080" y="416052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97680"/>
            <a:ext cx="365760" cy="3657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234440" y="41788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Speed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1234440" y="4498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benchmark vs manual analyst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4572000" y="42062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~3,100x faster than manual analyst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DECISIONS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decisions that shape the system.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114800" cy="109728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4300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orchestration + deterministic evidence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14630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drives planning, policy, and narrative. Evidence stays source-grounded — 97-98% citation rate.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4114800" cy="109728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83480" y="114300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53212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Cache-first data access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32120" y="14630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raw data committed to repo. Investigations replay instantly with zero runtime API dependencies.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40280"/>
            <a:ext cx="4114800" cy="109728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" y="237744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2331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dataclasses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and Evidence are immutable. Agents can't accidentally mutate each other's findings.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240280"/>
            <a:ext cx="4114800" cy="109728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237744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2120" y="2331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missing data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53212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confidence=0.0 + cache_missing=True. Gaps surface in the UI instead of silently disappearing.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4114800" cy="109728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" y="361188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4300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JSON contracts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3000" y="3931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 validates output against a schema. Retry-with-repair on failure. Typed errors on repeated violations.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474720"/>
            <a:ext cx="4114800" cy="1097280"/>
          </a:xfrm>
          <a:prstGeom prst="rect">
            <a:avLst/>
          </a:prstGeom>
          <a:solidFill>
            <a:srgbClr val="1E3A52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983480" y="361188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9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53212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with zero deps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532120" y="3931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Render.com with Gunicorn. No external API calls at runtime — runs entirely from local cached files.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29600" y="47091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engineers. One semester. One system.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1600200" cy="54864"/>
          </a:xfrm>
          <a:prstGeom prst="rect">
            <a:avLst/>
          </a:prstGeom>
          <a:solidFill>
            <a:srgbClr val="0077B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371600"/>
            <a:ext cx="777240" cy="777240"/>
          </a:xfrm>
          <a:prstGeom prst="ellipse">
            <a:avLst/>
          </a:prstGeom>
          <a:solidFill>
            <a:srgbClr val="0077B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20040" y="22860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Taljinder Singh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9748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&amp; preprocessing — five raw connectors, EDA, cached corpora.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11680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11680" y="1097280"/>
            <a:ext cx="16002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Shape 11"/>
          <p:cNvSpPr/>
          <p:nvPr/>
        </p:nvSpPr>
        <p:spPr>
          <a:xfrm>
            <a:off x="2423160" y="1371600"/>
            <a:ext cx="777240" cy="7772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4" name="Text 12"/>
          <p:cNvSpPr/>
          <p:nvPr/>
        </p:nvSpPr>
        <p:spPr>
          <a:xfrm>
            <a:off x="2423160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057400" y="22860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Arnab Mitra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03120" y="269748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backend — orchestrator, 3 specialist agents, MCP, reflexion, output, graph.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49040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49040" y="1097280"/>
            <a:ext cx="16002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Shape 17"/>
          <p:cNvSpPr/>
          <p:nvPr/>
        </p:nvSpPr>
        <p:spPr>
          <a:xfrm>
            <a:off x="4160520" y="1371600"/>
            <a:ext cx="777240" cy="7772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160520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794760" y="22860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 Kumar Mahto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69748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planner &amp; context manager — shared state across the agent swarm.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0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0" y="1097280"/>
            <a:ext cx="1600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897880" y="1371600"/>
            <a:ext cx="777240" cy="7772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5897880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32120" y="22860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 Pokharna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77840" y="269748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UI — query form, 5-tab results, risk viz, vis-network knowledge graph.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23760" y="1097280"/>
            <a:ext cx="1600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0" y="1097280"/>
            <a:ext cx="160020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Shape 29"/>
          <p:cNvSpPr/>
          <p:nvPr/>
        </p:nvSpPr>
        <p:spPr>
          <a:xfrm>
            <a:off x="7635240" y="1371600"/>
            <a:ext cx="777240" cy="7772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JK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269480" y="22860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 Kuriakose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0" y="2697480"/>
            <a:ext cx="1417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LLM integration, auto entity resolution, NetworkX analysis, docs.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OSINT INVESTIGATION SWARM  ·  ARIZONA STATE UNIVERSITY  ·  FSE 570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66344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0077B6"/>
                </a:solidFill>
              </a:rPr>
              <a:t>LIMITATIONS  · 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200">
                <a:solidFill>
                  <a:srgbClr val="FFFFFF"/>
                </a:solidFill>
              </a:rPr>
              <a:t>What we'd change — and where we'd go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900">
                <a:solidFill>
                  <a:srgbClr val="00B4D8"/>
                </a:solidFill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8686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900">
                <a:solidFill>
                  <a:srgbClr val="00B4D8"/>
                </a:solidFill>
              </a:rPr>
              <a:t>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4114800" cy="109728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801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0F1923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Static data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600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CBD5E1"/>
                </a:solidFill>
              </a:rPr>
              <a:t>Evidence reflects the last pull date. OFAC, court records, and GDELT go stale without a manual refresh.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40"/>
            <a:ext cx="4114800" cy="109728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51460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0F1923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English-only news signal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CBD5E1"/>
                </a:solidFill>
              </a:rPr>
              <a:t>GDELT is filtered to English articles only. International adverse media in other languages is not captured.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611880"/>
            <a:ext cx="4114800" cy="109728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74904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49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0F1923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Narrative not formally verified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69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CBD5E1"/>
                </a:solidFill>
              </a:rPr>
              <a:t>The LLM narrative is contract-bound but not sentence-level cross-checked against individual evidence rows.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1143000"/>
            <a:ext cx="4114800" cy="109728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83480" y="12801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0F1923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Scheduled data refresh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1600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CBD5E1"/>
                </a:solidFill>
              </a:rPr>
              <a:t>Automate nightly pulls for all four sources so every investigation reflects the current day's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2377440"/>
            <a:ext cx="4114800" cy="109728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83480" y="251460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0F1923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On-demand entity coverage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CBD5E1"/>
                </a:solidFill>
              </a:rPr>
              <a:t>Resolve and pull any public company at query time via SEC EDGAR, removing the five-entity cache limit.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11880"/>
            <a:ext cx="4114800" cy="1097280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83480" y="374904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83480" y="3749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0F1923"/>
                </a:solidFill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FFFFFF"/>
                </a:solidFill>
              </a:rPr>
              <a:t>Private source integration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069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CBD5E1"/>
                </a:solidFill>
              </a:rPr>
              <a:t>Add licensed data (OpenCorporates, Dun &amp; Bradstreet) to support non-public and international entities.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7091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1000">
                <a:solidFill>
                  <a:srgbClr val="64748B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OSINT Investigation Swarm — Architecture &amp; Evaluation</dc:title>
  <dc:subject>PptxGenJS Presentation</dc:subject>
  <dc:creator>OSINT Swarm Team</dc:creator>
  <cp:lastModifiedBy>OSINT Swarm Team</cp:lastModifiedBy>
  <cp:revision>1</cp:revision>
  <dcterms:created xsi:type="dcterms:W3CDTF">2026-04-19T21:49:04Z</dcterms:created>
  <dcterms:modified xsi:type="dcterms:W3CDTF">2026-04-19T21:49:04Z</dcterms:modified>
</cp:coreProperties>
</file>