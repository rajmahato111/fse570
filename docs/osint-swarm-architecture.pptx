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21"/>
    <p:sldId id="271" r:id="rId22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FSE 570 CAPSTONE  · 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OSINT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INVESTIGATION SWARM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system that turns a plain-English question into a fully cited,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financial misconduct investigation — in under 3 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063240"/>
            <a:ext cx="3291840" cy="457200"/>
          </a:xfrm>
          <a:prstGeom prst="rect">
            <a:avLst>
              <a:gd name="adj" fmla="val 10000"/>
            </a:avLst>
          </a:prstGeom>
          <a:solidFill>
            <a:srgbClr val="1E3A5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POWERED BY  </a:t>
            </a:r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LLAMA 3.1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  ·  5 LLM POLICIES  ·  GROQ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Taljinder Singh  ·  Arnab Mitra  ·  Raj Kumar Mahto  ·  Aditya Pokharna  ·  Jacob Kuriakose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 ·  EVALUATION  ·  APRIL 2026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1280160" cy="128016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1945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compliance analyst spends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 hours on one question.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whether a public company is tied to money laundering, sanctions violations, or regulatory penalties means hand-visiting five public sources, reading hundreds of filings, and writing it all up.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029200" cy="548640"/>
          </a:xfrm>
          <a:prstGeom prst="rect">
            <a:avLst/>
          </a:prstGeom>
          <a:solidFill>
            <a:srgbClr val="0F192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Investigate Tesla for money laundering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645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42900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~2.5 hrs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investigation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429000"/>
            <a:ext cx="1645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342900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 sec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0604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3429000"/>
            <a:ext cx="1645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342900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3,100×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3484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1645920" cy="164592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60320"/>
            <a:ext cx="1097280" cy="10972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query. Four sources. Full audit trail.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21031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· OFAC · COURT · GDELT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417320"/>
            <a:ext cx="1920240" cy="21031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5544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1,125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269748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974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Tesla investigation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54880" y="1417320"/>
            <a:ext cx="1920240" cy="21031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5544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484632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84632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findings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903720" y="1417320"/>
            <a:ext cx="1920240" cy="21031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544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2.7s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699516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9951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pipeline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— no API calls at runtime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384048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4048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dataclasses — immutable evidence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84048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67512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+ deterministic evidence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Seven-and-a-half layers, top to bottom.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3152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005840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058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005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10058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form · 5-tab results · interactive graph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499616"/>
            <a:ext cx="73152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499616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49961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49961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Narrative (Llama 3.1)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149961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sectioned analyst narrative via Groq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1993392"/>
            <a:ext cx="73152" cy="40233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1993392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199339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19933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199339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report · risk dashboard · audit trail ·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487168"/>
            <a:ext cx="73152" cy="40233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2487168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48716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24871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24871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LLM-ranked actions · cross-check · gap detection · scoring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2980944"/>
            <a:ext cx="73152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2980944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298094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29809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298094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· Legal · Social Graph (LLM action policy)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474720"/>
            <a:ext cx="73152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474720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47472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34747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347472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 · LLM stop policy · entity resolution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3968496"/>
            <a:ext cx="73152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" y="3968496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396849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63040" y="39684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Layer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206240" y="39684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data access · confidence/relevance processing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4462272"/>
            <a:ext cx="7315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240" y="4462272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446227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463040" y="44622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06240" y="446227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· OFAC · CourtListener · GDELT raw connectors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LLM-DRIVEN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Llama 3.1-8b-instant via Groq powers: Planner · Action Policy · Stop Policy · Reflexion Ranking · Final Narrative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LLM-Only Orchestration Runtime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71600" cy="4572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2011680" cy="45720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 Orchestrator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23444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914400"/>
            <a:ext cx="146304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914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0" y="1325880"/>
            <a:ext cx="146304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23360" y="1097280"/>
            <a:ext cx="274320" cy="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1508760"/>
            <a:ext cx="2743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1371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1417320"/>
            <a:ext cx="274320" cy="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737360"/>
            <a:ext cx="841248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057400"/>
            <a:ext cx="2560320" cy="365760"/>
          </a:xfrm>
          <a:prstGeom prst="rect">
            <a:avLst/>
          </a:prstGeom>
          <a:solidFill>
            <a:srgbClr val="0077B6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Agent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2487168"/>
            <a:ext cx="2011680" cy="32004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 EDGAR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08960" y="2057400"/>
            <a:ext cx="256032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Agent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2487168"/>
            <a:ext cx="2011680" cy="32004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OFAC · CourtListener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2057400"/>
            <a:ext cx="256032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 Agent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487168"/>
            <a:ext cx="2011680" cy="32004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GDELT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20840" y="1508760"/>
            <a:ext cx="0" cy="2286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0" y="3154680"/>
            <a:ext cx="3657600" cy="41148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Pool (structured Evidence rows)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0" y="2971800"/>
            <a:ext cx="0" cy="182880"/>
          </a:xfrm>
          <a:prstGeom prst="line">
            <a:avLst/>
          </a:prstGeom>
          <a:noFill/>
          <a:ln w="12700">
            <a:solidFill>
              <a:srgbClr val="90E0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971800"/>
            <a:ext cx="0" cy="182880"/>
          </a:xfrm>
          <a:prstGeom prst="line">
            <a:avLst/>
          </a:prstGeom>
          <a:noFill/>
          <a:ln w="12700">
            <a:solidFill>
              <a:srgbClr val="90E0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2971800"/>
            <a:ext cx="0" cy="182880"/>
          </a:xfrm>
          <a:prstGeom prst="line">
            <a:avLst/>
          </a:prstGeom>
          <a:noFill/>
          <a:ln w="12700">
            <a:solidFill>
              <a:srgbClr val="90E0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749040"/>
            <a:ext cx="5029200" cy="45720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Reflexion Layer  </a:t>
            </a:r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Cross-check · Gap Detection · Confidence · LLM Ranking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56616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3749040"/>
            <a:ext cx="3108960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76072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LLM Policies  </a:t>
            </a:r>
            <a:pPr indent="0" marL="0">
              <a:buNone/>
            </a:pPr>
            <a:r>
              <a:rPr lang="en-US" sz="900" dirty="0">
                <a:solidFill>
                  <a:srgbClr val="5A4500"/>
                </a:solidFill>
              </a:rPr>
              <a:t>Action · Stop · Reflexion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389120"/>
            <a:ext cx="2286000" cy="54864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NetworkX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834640" y="4389120"/>
            <a:ext cx="2560320" cy="548640"/>
          </a:xfrm>
          <a:prstGeom prst="rect">
            <a:avLst/>
          </a:prstGeom>
          <a:solidFill>
            <a:srgbClr val="0077B6">
              <a:alpha val="7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83464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Dashboard · Audit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77840" y="4389120"/>
            <a:ext cx="2560320" cy="548640"/>
          </a:xfrm>
          <a:prstGeom prst="rect">
            <a:avLst/>
          </a:prstGeom>
          <a:solidFill>
            <a:srgbClr val="F59E0B">
              <a:alpha val="7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(strict contract)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0" y="420624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LLM policies. One model. Zero hallucinated evidence.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MODEL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Llama 3.1-8b-instant  ·  Provider: Groq API  ·  Auth: GROQ_API_KEY  ·  JSON strict mode  ·  Retry-with-repair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4592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llm_planner.py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query into bounded SubTasks (3-5 tasks, max 2 rounds)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0.2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600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Lead Agent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0" y="1645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64592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Policy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action_policy.py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next tool for each specialist agent per step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0.1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240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Lead Agent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0040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Policy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474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if another agent round is needed or finalize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0.1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200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Lead Agent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0" y="3200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320040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Ranking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3474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action_reflexion.py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follow-up actions after gap/conflict detection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1188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0.1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320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Reflexion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09360" y="3200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20040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Narrative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3474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llm_narrative.py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strict 5-section analyst narrative from metrics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0.2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650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App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public sources. Zero runtime cost.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30175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258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Filings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864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filings/entity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5800" y="3383280"/>
            <a:ext cx="146304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CONF  </a:t>
            </a:r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0.75–0.95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606040" y="1097280"/>
            <a:ext cx="1920240" cy="30175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258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9748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SDN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6974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List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69748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18,712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269748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834640" y="3383280"/>
            <a:ext cx="146304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2" name="Text 18"/>
          <p:cNvSpPr/>
          <p:nvPr/>
        </p:nvSpPr>
        <p:spPr>
          <a:xfrm>
            <a:off x="28346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CONF  </a:t>
            </a:r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0.90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754880" y="1097280"/>
            <a:ext cx="1920240" cy="30175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2588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4632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CourtListener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4632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Records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4632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484632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dockets/query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983480" y="3383280"/>
            <a:ext cx="146304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1" name="Text 26"/>
          <p:cNvSpPr/>
          <p:nvPr/>
        </p:nvSpPr>
        <p:spPr>
          <a:xfrm>
            <a:off x="498348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CONF  </a:t>
            </a:r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0.85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903720" y="1097280"/>
            <a:ext cx="1920240" cy="30175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325880"/>
            <a:ext cx="502920" cy="5029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9516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2.0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99516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99516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2400" dirty="0"/>
          </a:p>
        </p:txBody>
      </p:sp>
      <p:sp>
        <p:nvSpPr>
          <p:cNvPr id="38" name="Text 32"/>
          <p:cNvSpPr/>
          <p:nvPr/>
        </p:nvSpPr>
        <p:spPr>
          <a:xfrm>
            <a:off x="699516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articles/query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7132320" y="3383280"/>
            <a:ext cx="146304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0" name="Text 34"/>
          <p:cNvSpPr/>
          <p:nvPr/>
        </p:nvSpPr>
        <p:spPr>
          <a:xfrm>
            <a:off x="713232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CONF  </a:t>
            </a:r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0.30–0.75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cached after first pull — investigations replay from disk. No API calls at runtime.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workers. One shared protocol. LLM-guided tool selection.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run(entity, task, context) → List[Evidence]                    LLM Action Policy selects tools per step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2697480" cy="54864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8308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Agent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7889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corporate_structure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3081528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08152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sec_filings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" y="3374136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37413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transaction_patterns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380390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→ up to 500 filings + 1 governance summary. Tiered confidence by form type (8-K: 0.95, 10-K: 0.85, Form 4: 0.75).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37560" y="164592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37560" y="164592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8308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Agent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520440" y="2788920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19"/>
          <p:cNvSpPr/>
          <p:nvPr/>
        </p:nvSpPr>
        <p:spPr>
          <a:xfrm>
            <a:off x="3566160" y="27889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sanctions_screening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520440" y="3081528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1"/>
          <p:cNvSpPr/>
          <p:nvPr/>
        </p:nvSpPr>
        <p:spPr>
          <a:xfrm>
            <a:off x="3566160" y="308152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litigation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351129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SDN → fuzzy match across 18,712 entries with false-positive guards. CourtListener → up to 20 federal dockets.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217920" y="164592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164592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83080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0936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 Agent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400800" y="2788920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7"/>
          <p:cNvSpPr/>
          <p:nvPr/>
        </p:nvSpPr>
        <p:spPr>
          <a:xfrm>
            <a:off x="6446520" y="27889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adverse_media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400800" y="3081528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29"/>
          <p:cNvSpPr/>
          <p:nvPr/>
        </p:nvSpPr>
        <p:spPr>
          <a:xfrm>
            <a:off x="6446520" y="308152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network_analysis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355080" y="351129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→ up to 100 news articles, English-filtered, title-scored by relevance (entity + risk keyword → 0.75).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plain English to cited report in 2.7 seconds.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14300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143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097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Entity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"Tesla" → CIK 0001318605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1540" y="160020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187452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Plans Tasks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1828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→ 3-5 bounded SubTasks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" y="233172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260604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2560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specialists gather 1,125 evidence rows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1540" y="306324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80160" y="333756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+ LLM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3291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· gaps · LLM ranking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1540" y="379476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280160" y="406908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6" name="Text 34"/>
          <p:cNvSpPr/>
          <p:nvPr/>
        </p:nvSpPr>
        <p:spPr>
          <a:xfrm>
            <a:off x="1280160" y="4069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0312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+ Narrative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89120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Llama 3.1 narrative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572000"/>
            <a:ext cx="2560320" cy="457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1,125  </a:t>
            </a:r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ROWS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74720" y="4572000"/>
            <a:ext cx="2560320" cy="457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2" name="Text 40"/>
          <p:cNvSpPr/>
          <p:nvPr/>
        </p:nvSpPr>
        <p:spPr>
          <a:xfrm>
            <a:off x="356616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  </a:t>
            </a:r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CONFLICTS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09360" y="4572000"/>
            <a:ext cx="2560320" cy="457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0.81  </a:t>
            </a:r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CONFIDENCE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Per-Entity Performance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589520" cy="41148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051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GDELT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7589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Tesla, Inc.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Auto/Tech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1920240"/>
            <a:ext cx="758952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Motor Co.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377440"/>
            <a:ext cx="7589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Co.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2.45s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758952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Inc.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8328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891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2.81s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291840"/>
            <a:ext cx="7589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0312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8328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38912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2.77s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1792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3232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3749040"/>
            <a:ext cx="7589520" cy="4572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10312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38328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38912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0352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1792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3232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4434840"/>
            <a:ext cx="758952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2" name="Text 60"/>
          <p:cNvSpPr/>
          <p:nvPr/>
        </p:nvSpPr>
        <p:spPr>
          <a:xfrm>
            <a:off x="640080" y="4434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0E0EF"/>
                </a:solidFill>
              </a:rPr>
              <a:t>KEY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5 entities achieve full source coverage (4/4) with 97.7% average citation rate across 1,010 avg findings in 2.67s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Speedup, Confidence &amp; Test Coverage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 vs MANUAL ANALYST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38404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371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371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371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1,800×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41148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screening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783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783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2,400×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194560"/>
            <a:ext cx="4114800" cy="38404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194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records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2194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1,800×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606040"/>
            <a:ext cx="41148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606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2606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2606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606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2,700×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017520"/>
            <a:ext cx="4114800" cy="38404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hrs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3017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3,100×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8-K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1444752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0" y="1444752"/>
            <a:ext cx="1389888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10-K/10-Q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0" y="1783080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1783080"/>
            <a:ext cx="1243584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8366760" y="1709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2048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DEF 14A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0" y="2121408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2" name="Shape 40"/>
          <p:cNvSpPr/>
          <p:nvPr/>
        </p:nvSpPr>
        <p:spPr>
          <a:xfrm>
            <a:off x="6858000" y="2121408"/>
            <a:ext cx="1170432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8366760" y="20482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2386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Form 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2459736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0" y="2459736"/>
            <a:ext cx="10972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23865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SDN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58000" y="2798064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2798064"/>
            <a:ext cx="1316736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8366760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292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CourtListener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0" y="3136392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0" y="3136392"/>
            <a:ext cx="1243584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836676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(high)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0" y="3474720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8" name="Shape 56"/>
          <p:cNvSpPr/>
          <p:nvPr/>
        </p:nvSpPr>
        <p:spPr>
          <a:xfrm>
            <a:off x="6858000" y="3474720"/>
            <a:ext cx="10972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9" name="Text 57"/>
          <p:cNvSpPr/>
          <p:nvPr/>
        </p:nvSpPr>
        <p:spPr>
          <a:xfrm>
            <a:off x="8366760" y="3401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0" y="3739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(low)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58000" y="3813048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62" name="Shape 60"/>
          <p:cNvSpPr/>
          <p:nvPr/>
        </p:nvSpPr>
        <p:spPr>
          <a:xfrm>
            <a:off x="6858000" y="3813048"/>
            <a:ext cx="438912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8366760" y="37398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65" name="Text 63"/>
          <p:cNvSpPr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103120" y="3840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219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 unit tests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across all 8 layers</a:t>
            </a:r>
            <a:endParaRPr lang="en-US" sz="2800" dirty="0"/>
          </a:p>
        </p:txBody>
      </p:sp>
      <p:sp>
        <p:nvSpPr>
          <p:cNvPr id="67" name="Shape 65"/>
          <p:cNvSpPr/>
          <p:nvPr/>
        </p:nvSpPr>
        <p:spPr>
          <a:xfrm>
            <a:off x="640080" y="4572000"/>
            <a:ext cx="1920240" cy="411480"/>
          </a:xfrm>
          <a:prstGeom prst="rect">
            <a:avLst/>
          </a:prstGeom>
          <a:solidFill>
            <a:srgbClr val="0A1A2A"/>
          </a:solidFill>
          <a:ln/>
        </p:spPr>
      </p:sp>
      <p:pic>
        <p:nvPicPr>
          <p:cNvPr id="6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26864"/>
            <a:ext cx="274320" cy="274320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105156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97-98% citation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2788920" y="4572000"/>
            <a:ext cx="1920240" cy="411480"/>
          </a:xfrm>
          <a:prstGeom prst="rect">
            <a:avLst/>
          </a:prstGeom>
          <a:solidFill>
            <a:srgbClr val="0A1A2A"/>
          </a:solidFill>
          <a:ln/>
        </p:spPr>
      </p:sp>
      <p:pic>
        <p:nvPicPr>
          <p:cNvPr id="7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4626864"/>
            <a:ext cx="274320" cy="274320"/>
          </a:xfrm>
          <a:prstGeom prst="rect">
            <a:avLst/>
          </a:prstGeom>
        </p:spPr>
      </p:pic>
      <p:sp>
        <p:nvSpPr>
          <p:cNvPr id="72" name="Text 68"/>
          <p:cNvSpPr/>
          <p:nvPr/>
        </p:nvSpPr>
        <p:spPr>
          <a:xfrm>
            <a:off x="320040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sources</a:t>
            </a:r>
            <a:endParaRPr lang="en-US" sz="1000" dirty="0"/>
          </a:p>
        </p:txBody>
      </p:sp>
      <p:sp>
        <p:nvSpPr>
          <p:cNvPr id="73" name="Shape 69"/>
          <p:cNvSpPr/>
          <p:nvPr/>
        </p:nvSpPr>
        <p:spPr>
          <a:xfrm>
            <a:off x="4937760" y="4572000"/>
            <a:ext cx="1920240" cy="411480"/>
          </a:xfrm>
          <a:prstGeom prst="rect">
            <a:avLst/>
          </a:prstGeom>
          <a:solidFill>
            <a:srgbClr val="0A1A2A"/>
          </a:solidFill>
          <a:ln/>
        </p:spPr>
      </p:sp>
      <p:pic>
        <p:nvPicPr>
          <p:cNvPr id="7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626864"/>
            <a:ext cx="274320" cy="274320"/>
          </a:xfrm>
          <a:prstGeom prst="rect">
            <a:avLst/>
          </a:prstGeom>
        </p:spPr>
      </p:pic>
      <p:sp>
        <p:nvSpPr>
          <p:cNvPr id="75" name="Text 70"/>
          <p:cNvSpPr/>
          <p:nvPr/>
        </p:nvSpPr>
        <p:spPr>
          <a:xfrm>
            <a:off x="534924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3,100× speedup</a:t>
            </a:r>
            <a:endParaRPr lang="en-US" sz="1000" dirty="0"/>
          </a:p>
        </p:txBody>
      </p:sp>
      <p:sp>
        <p:nvSpPr>
          <p:cNvPr id="76" name="Shape 71"/>
          <p:cNvSpPr/>
          <p:nvPr/>
        </p:nvSpPr>
        <p:spPr>
          <a:xfrm>
            <a:off x="7086600" y="4572000"/>
            <a:ext cx="1920240" cy="411480"/>
          </a:xfrm>
          <a:prstGeom prst="rect">
            <a:avLst/>
          </a:prstGeom>
          <a:solidFill>
            <a:srgbClr val="0A1A2A"/>
          </a:solidFill>
          <a:ln/>
        </p:spPr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4626864"/>
            <a:ext cx="274320" cy="274320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749808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tests</a:t>
            </a:r>
            <a:endParaRPr lang="en-US" sz="1000" dirty="0"/>
          </a:p>
        </p:txBody>
      </p:sp>
      <p:sp>
        <p:nvSpPr>
          <p:cNvPr id="79" name="Text 73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criteria. All met.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69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&amp; Depth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rate, findings count, source coverage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0" y="1097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97-98% citation, 598-1,125 findings/entity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182880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Verification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3444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Reflexion: cross-check, gap detection, tiered confidence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0" y="1874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across all 3 specialist agents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26060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260604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Generality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234440" y="2944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5 entities across 3 industries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0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 handles any public company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3832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338328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23444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suite, deployment, runbook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57200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unit tests, Render deployment, full runbook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40080" y="416052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9768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34440" y="4178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Speed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234440" y="4498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benchmark vs manual analyst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4572000" y="4206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~3,100x faster than manual analyst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decisions that shape the system.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+ deterministic evidence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drives planning, policy, and narrative. Evidence stays source-grounded — 97-98% citation rate.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1430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data access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raw data committed to repo. Investigations replay instantly with zero runtime API dependencies.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3774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dataclasses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and Evidence are immutable. Agents can't accidentally mutate each other's findings.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4028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23774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missing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confidence=0.0 + cache_missing=True. Gaps surface in the UI instead of silently disappearing.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contracts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validates output against a schema. Retry-with-repair on failure. Typed errors on repeated violations.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7472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36118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with zero deps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with Gunicorn. No external API calls at runtime — runs entirely from local cached files.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0077B6"/>
                </a:solidFill>
              </a:rPr>
              <a:t>LIMITATIONS  · 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What we'd change — and where we'd go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00B4D8"/>
                </a:solidFill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8686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00B4D8"/>
                </a:solidFill>
              </a:rPr>
              <a:t>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4114800" cy="109728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F1923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Static data 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CBD5E1"/>
                </a:solidFill>
              </a:rPr>
              <a:t>Evidence reflects the last pull date. OFAC, court records, and GDELT go stale without a manual refresh.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F1923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English-only news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CBD5E1"/>
                </a:solidFill>
              </a:rPr>
              <a:t>GDELT is filtered to English articles only. International adverse media in other languages is not captured.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4114800" cy="109728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490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F1923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Narrative not formally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CBD5E1"/>
                </a:solidFill>
              </a:rPr>
              <a:t>The LLM narrative is contract-bound but not sentence-level cross-checked against individual evidence rows.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1143000"/>
            <a:ext cx="4114800" cy="109728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80" y="128016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F1923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Scheduled data refresh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CBD5E1"/>
                </a:solidFill>
              </a:rPr>
              <a:t>Automate nightly pulls for all four sources so every investigation reflects the current day's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2377440"/>
            <a:ext cx="4114800" cy="109728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3480" y="25146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F1923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On-demand entity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CBD5E1"/>
                </a:solidFill>
              </a:rPr>
              <a:t>Resolve and pull any public company at query time via SEC EDGAR, removing the five-entity cache limit.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611880"/>
            <a:ext cx="4114800" cy="109728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83480" y="374904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F1923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Private source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CBD5E1"/>
                </a:solidFill>
              </a:rPr>
              <a:t>Add licensed data (OpenCorporates, Dun &amp; Bradstreet) to support non-public and international entities.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64748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engineers. One semester. One system.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60020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371600"/>
            <a:ext cx="777240" cy="77724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Taljinder Singh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preprocessing — five raw connectors, EDA, cached corpora.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097280"/>
            <a:ext cx="1600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1371600"/>
            <a:ext cx="777240" cy="7772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5740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Arnab Mitra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— orchestrator, 3 specialist agents, MCP, reflexion, output, graph.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097280"/>
            <a:ext cx="1600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0520" y="1371600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9476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Kumar Mahto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planner &amp; context manager — shared state across the agent swarm.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097280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5897880" y="137160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89788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3212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Pokharna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UI — query form, 5-tab results, risk viz, vis-network knowledge graph.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097280"/>
            <a:ext cx="1600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1371600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JK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6948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Kuriakose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LLM integration, auto entity resolution, NetworkX analysis, docs.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OSINT INVESTIGATION SWARM  ·  ARIZONA STATE UNIVERSITY  ·  FSE 570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0077B6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Three things to take away.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96012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41732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F1923"/>
                </a:solidFill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170432"/>
            <a:ext cx="66294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CBD5E1"/>
                </a:solidFill>
              </a:rPr>
              <a:t>A seven-layer, multi-agent OSINT system that turns a plain-English query into a fully cited financial misconduct report — pulling from 4 public sources and returning 1,000+ evidence rows in under 3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8229600" cy="96012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141732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F1923"/>
                </a:solidFill>
              </a:rPr>
              <a:t>WHAT WE 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267712"/>
            <a:ext cx="66294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CBD5E1"/>
                </a:solidFill>
              </a:rPr>
              <a:t>3,100× faster than a manual analyst. 97.7% citation rate across 5 entities in 3 industries. Full 4/4 source coverage every run. Verified by 219 unit tests across all 8 system layers.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73552"/>
            <a:ext cx="8229600" cy="96012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73552"/>
            <a:ext cx="141732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0215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F1923"/>
                </a:solidFill>
              </a:rPr>
              <a:t>WHAT'S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364992"/>
            <a:ext cx="66294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CBD5E1"/>
                </a:solidFill>
              </a:rPr>
              <a:t>Automated nightly data refresh · on-demand resolution for any public company · private and international source integration (OpenCorporates, Dun &amp; Bradstreet) · multi-language adverse media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64748B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OSINT Investigation Swarm — Architecture &amp; Evaluation</dc:title>
  <dc:subject>PptxGenJS Presentation</dc:subject>
  <dc:creator>OSINT Swarm Team</dc:creator>
  <cp:lastModifiedBy>OSINT Swarm Team</cp:lastModifiedBy>
  <cp:revision>1</cp:revision>
  <dcterms:created xsi:type="dcterms:W3CDTF">2026-04-19T21:49:04Z</dcterms:created>
  <dcterms:modified xsi:type="dcterms:W3CDTF">2026-04-19T21:49:04Z</dcterms:modified>
</cp:coreProperties>
</file>