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k39AUPb4dJ1RhOxyBDXOtHrMC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d8be90bea2_10_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d8be90bea2_10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d8be90bea2_10_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d8be90bea2_10_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4419600" y="4627562"/>
            <a:ext cx="2133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68262"/>
            <a:ext cx="8229600" cy="1131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4419600" y="4627562"/>
            <a:ext cx="2133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nVb2wonucxWnCmA03By-vBgKj2rAytvO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77875" y="223837"/>
            <a:ext cx="7588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FSE 570 CAPSTONE  ·  SPRING 2026</a:t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777875" y="496887"/>
            <a:ext cx="5851525" cy="129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0" i="0" lang="en-US" sz="32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AUTONOMOUS OSINT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0" i="0" lang="en-US" sz="32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INVESTIGATION SWARM</a:t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777875" y="2066925"/>
            <a:ext cx="585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multi-agent AI system that turns a plain-English question into a fully cited,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audit-ready financial misconduct investigation </a:t>
            </a: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in under 25 seconds.</a:t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731837" y="2835275"/>
            <a:ext cx="1828800" cy="365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731837" y="3063875"/>
            <a:ext cx="3290887" cy="4572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325" y="3222625"/>
            <a:ext cx="3109912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POWERED BY 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LLAMA 3.1</a:t>
            </a:r>
            <a:r>
              <a:rPr b="1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·  5 LLM POLICIES  ·  GROQ API</a:t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777875" y="4024312"/>
            <a:ext cx="7588250" cy="225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Taljinder Singh  ·  Arnab Mitra  ·  Raj Kumar Mahto  ·  Jacob Kuriakose  · Aditya Pokharna</a:t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777875" y="4373562"/>
            <a:ext cx="75882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ARCHITECTURE  ·  EVALUATION  ·  APRIL 2026</a:t>
            </a:r>
            <a:endParaRPr/>
          </a:p>
        </p:txBody>
      </p:sp>
      <p:pic>
        <p:nvPicPr>
          <p:cNvPr descr="Image 0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731837"/>
            <a:ext cx="1279525" cy="127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7762" y="2193925"/>
            <a:ext cx="823912" cy="82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85800" y="382587"/>
            <a:ext cx="4479925" cy="239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685800" y="581025"/>
            <a:ext cx="5394325" cy="1077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Arial Black"/>
              <a:buNone/>
            </a:pPr>
            <a:r>
              <a:rPr b="0" i="0" lang="en-US" sz="26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A compliance analyst spends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Arial Black"/>
              <a:buNone/>
            </a:pPr>
            <a:r>
              <a:rPr b="0" i="0" lang="en-US" sz="26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2.5 hours on one question.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685800" y="1703387"/>
            <a:ext cx="4937125" cy="754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Investigating whether a public company is tied to money laundering, sanctions violations, or regulatory penalties means hand-visiting five public sources, reading hundreds of filings, and writing it all up.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639762" y="2651125"/>
            <a:ext cx="5029200" cy="549275"/>
          </a:xfrm>
          <a:prstGeom prst="rect">
            <a:avLst/>
          </a:prstGeom>
          <a:solidFill>
            <a:srgbClr val="0F1923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22325" y="2817812"/>
            <a:ext cx="466407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onsolas"/>
              <a:buNone/>
            </a:pPr>
            <a:r>
              <a:rPr b="1" i="0" lang="en-US" sz="14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&gt;  </a:t>
            </a:r>
            <a:r>
              <a:rPr b="0" i="0" lang="en-US" sz="14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Investigate Tesla for money laundering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39762" y="3429000"/>
            <a:ext cx="1646237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39762" y="3429000"/>
            <a:ext cx="55562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777875" y="3594100"/>
            <a:ext cx="13716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777875" y="3819525"/>
            <a:ext cx="1371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300"/>
              <a:buFont typeface="Arial Black"/>
              <a:buNone/>
            </a:pPr>
            <a:r>
              <a:rPr b="0" i="0" lang="en-US" sz="2300" u="non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~2.5 hrs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777875" y="43656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 investigation</a:t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2468562" y="3429000"/>
            <a:ext cx="1646237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2468562" y="3429000"/>
            <a:ext cx="5556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2606675" y="3594100"/>
            <a:ext cx="13716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OUR SYSTEM</a:t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2606675" y="3819525"/>
            <a:ext cx="1371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300"/>
              <a:buFont typeface="Arial Black"/>
              <a:buNone/>
            </a:pPr>
            <a:r>
              <a:rPr b="0" i="0" lang="en-US" sz="2300" u="non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25 sec</a:t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2606675" y="43656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coverage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4297362" y="3429000"/>
            <a:ext cx="1646237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4297362" y="3429000"/>
            <a:ext cx="5556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4435475" y="3594100"/>
            <a:ext cx="13716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SPEEDUP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4435475" y="3819525"/>
            <a:ext cx="1371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300"/>
              <a:buFont typeface="Arial Black"/>
              <a:buNone/>
            </a:pPr>
            <a:r>
              <a:rPr b="0" i="0" lang="en-US" sz="23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400×</a:t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4435475" y="43656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endParaRPr/>
          </a:p>
        </p:txBody>
      </p:sp>
      <p:pic>
        <p:nvPicPr>
          <p:cNvPr descr="Image 0"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731837"/>
            <a:ext cx="1646237" cy="1646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" id="55" name="Google Shape;5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560637"/>
            <a:ext cx="1096962" cy="109696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685800" y="3381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WHAT IT DELIVERS</a:t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85800" y="633412"/>
            <a:ext cx="76533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One query. Four sources. Full audit trail.</a:t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457200" y="1417637"/>
            <a:ext cx="1920875" cy="21034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2" y="15541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549275" y="2117725"/>
            <a:ext cx="1736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400"/>
              <a:buFont typeface="Arial Black"/>
              <a:buNone/>
            </a:pPr>
            <a:r>
              <a:rPr b="0" i="0" lang="en-US" sz="34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549275" y="2765425"/>
            <a:ext cx="17367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68" name="Google Shape;68;p3"/>
          <p:cNvSpPr txBox="1"/>
          <p:nvPr/>
        </p:nvSpPr>
        <p:spPr>
          <a:xfrm>
            <a:off x="549275" y="3182937"/>
            <a:ext cx="173672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 · OFAC · COURT · GDELT</a:t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2606675" y="1417637"/>
            <a:ext cx="1919287" cy="21034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437" y="15541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2697162" y="2117725"/>
            <a:ext cx="1738312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400"/>
              <a:buFont typeface="Arial Black"/>
              <a:buNone/>
            </a:pPr>
            <a:r>
              <a:rPr b="0" i="0" lang="en-US" sz="34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1,125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2697162" y="2765425"/>
            <a:ext cx="1738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2697162" y="3182937"/>
            <a:ext cx="173831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 Tesla investigation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4754562" y="1417637"/>
            <a:ext cx="1920875" cy="21034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75" name="Google Shape;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4325" y="15541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4846637" y="2117725"/>
            <a:ext cx="1736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400"/>
              <a:buFont typeface="Arial Black"/>
              <a:buNone/>
            </a:pPr>
            <a:r>
              <a:rPr b="0" i="0" lang="en-US" sz="34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98%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4846637" y="2765425"/>
            <a:ext cx="17367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4846637" y="3182937"/>
            <a:ext cx="173672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all findings</a:t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6904037" y="1417637"/>
            <a:ext cx="1919287" cy="21034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80" name="Google Shape;8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3800" y="15541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6994525" y="2117725"/>
            <a:ext cx="1738312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400"/>
              <a:buFont typeface="Arial Black"/>
              <a:buNone/>
            </a:pPr>
            <a:r>
              <a:rPr b="0" i="0" lang="en-US" sz="34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25s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6994525" y="2765425"/>
            <a:ext cx="1738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6994525" y="3182937"/>
            <a:ext cx="173831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Cache-first pipeline</a:t>
            </a:r>
            <a:endParaRPr/>
          </a:p>
        </p:txBody>
      </p:sp>
      <p:pic>
        <p:nvPicPr>
          <p:cNvPr descr="Image 4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762" y="3840162"/>
            <a:ext cx="274637" cy="27463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1006475" y="3932237"/>
            <a:ext cx="246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Cache-first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no API calls at runtime</a:t>
            </a:r>
            <a:endParaRPr/>
          </a:p>
        </p:txBody>
      </p:sp>
      <p:pic>
        <p:nvPicPr>
          <p:cNvPr descr="Image 5" id="86" name="Google Shape;8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5037" y="3840162"/>
            <a:ext cx="274637" cy="27463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3840162" y="3932237"/>
            <a:ext cx="246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Frozen dataclasses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immutable evidence</a:t>
            </a:r>
            <a:endParaRPr/>
          </a:p>
        </p:txBody>
      </p:sp>
      <p:pic>
        <p:nvPicPr>
          <p:cNvPr descr="Image 6" id="88" name="Google Shape;8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8725" y="3840162"/>
            <a:ext cx="274637" cy="27463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6675437" y="3932237"/>
            <a:ext cx="2468562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LLM orchestration + deterministic evidence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685800" y="420687"/>
            <a:ext cx="7223125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Seven-and-a-half layers, top to bottom.</a:t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639762" y="1006475"/>
            <a:ext cx="73025" cy="40163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777875" y="1006475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77875" y="1130300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L7</a:t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1463675" y="1123950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Flask Web UI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206875" y="1139825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Query form · 5-tab results · interactive graph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639762" y="1500187"/>
            <a:ext cx="73025" cy="40163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777875" y="1500187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777875" y="1624012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L6½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1463675" y="1617662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Narrative (Llama 3.1)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206875" y="1633537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Strict sectioned analyst narrative via Groq API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639762" y="1993900"/>
            <a:ext cx="73025" cy="401637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77875" y="1993900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777875" y="2117725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L6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1463675" y="2111375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4206875" y="2127250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Evidence report · risk dashboard · audit trail · metrics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639762" y="2487612"/>
            <a:ext cx="73025" cy="40163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777875" y="2487612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777875" y="2611437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L5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1463675" y="2605087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Reflexion Layer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4206875" y="2620962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LLM-ranked actions · cross-check · gap detection · scoring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39762" y="2981325"/>
            <a:ext cx="73025" cy="40163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777875" y="2981325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777875" y="3105150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L4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463675" y="3098800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Specialist Agents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206875" y="3114675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Corporate · Legal · Social Graph (LLM action policy)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39762" y="3475037"/>
            <a:ext cx="73025" cy="40163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777875" y="3475037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777875" y="3600450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L3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1463675" y="3592512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Lead Agent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4206875" y="3608387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planner · LLM stop policy · entity resolution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639762" y="3968750"/>
            <a:ext cx="73025" cy="401637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777875" y="3968750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77875" y="4094162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L2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463675" y="4086225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Layer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4206875" y="4102100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Cache-first data access · confidence/relevance processing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639762" y="4462462"/>
            <a:ext cx="73025" cy="40163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777875" y="4462462"/>
            <a:ext cx="593725" cy="401637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77875" y="4587875"/>
            <a:ext cx="593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L1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463675" y="4579937"/>
            <a:ext cx="27432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Library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4206875" y="4595812"/>
            <a:ext cx="438785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 · OFAC · CourtListener · GDELT raw connectors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639750" y="4846625"/>
            <a:ext cx="7681800" cy="297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22325" y="4924325"/>
            <a:ext cx="7499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LLM-DRIVEN  </a:t>
            </a: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Llama 3.1-8b-instant via Groq powers: Planner · Action Policy · Stop Policy · Reflexion Ranking · Final Narrative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ARCHITECTURE DIAGRAM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685800" y="415925"/>
            <a:ext cx="72231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LLM-Only Orchestration Runtime Flow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65125" y="1006475"/>
            <a:ext cx="13716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65125" y="11652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User Query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2011362" y="1006475"/>
            <a:ext cx="2011362" cy="530225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2011362" y="1165225"/>
            <a:ext cx="2011362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 Agent Orchestrator</a:t>
            </a:r>
            <a:endParaRPr/>
          </a:p>
        </p:txBody>
      </p:sp>
      <p:cxnSp>
        <p:nvCxnSpPr>
          <p:cNvPr id="152" name="Google Shape;152;p5"/>
          <p:cNvCxnSpPr/>
          <p:nvPr/>
        </p:nvCxnSpPr>
        <p:spPr>
          <a:xfrm>
            <a:off x="1736725" y="1235075"/>
            <a:ext cx="274637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" name="Google Shape;153;p5"/>
          <p:cNvSpPr txBox="1"/>
          <p:nvPr/>
        </p:nvSpPr>
        <p:spPr>
          <a:xfrm>
            <a:off x="4297362" y="914400"/>
            <a:ext cx="1463675" cy="36512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4297362" y="1033462"/>
            <a:ext cx="146367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800"/>
              <a:buFont typeface="Calibri"/>
              <a:buNone/>
            </a:pPr>
            <a:r>
              <a:rPr b="1" i="0" lang="en-US" sz="8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Entity Resolution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4297362" y="1325562"/>
            <a:ext cx="1463675" cy="366712"/>
          </a:xfrm>
          <a:prstGeom prst="rect">
            <a:avLst/>
          </a:prstGeom>
          <a:solidFill>
            <a:srgbClr val="F59E0B">
              <a:alpha val="80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4297362" y="1444625"/>
            <a:ext cx="146367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800"/>
              <a:buFont typeface="Calibri"/>
              <a:buNone/>
            </a:pPr>
            <a:r>
              <a:rPr b="1" i="0" lang="en-US" sz="800" u="non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LLM Planner</a:t>
            </a:r>
            <a:endParaRPr/>
          </a:p>
        </p:txBody>
      </p:sp>
      <p:cxnSp>
        <p:nvCxnSpPr>
          <p:cNvPr id="157" name="Google Shape;157;p5"/>
          <p:cNvCxnSpPr/>
          <p:nvPr/>
        </p:nvCxnSpPr>
        <p:spPr>
          <a:xfrm>
            <a:off x="4022725" y="1096962"/>
            <a:ext cx="274637" cy="0"/>
          </a:xfrm>
          <a:prstGeom prst="straightConnector1">
            <a:avLst/>
          </a:prstGeom>
          <a:noFill/>
          <a:ln cap="flat" cmpd="sng" w="19050">
            <a:solidFill>
              <a:srgbClr val="90E0E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" name="Google Shape;158;p5"/>
          <p:cNvCxnSpPr/>
          <p:nvPr/>
        </p:nvCxnSpPr>
        <p:spPr>
          <a:xfrm>
            <a:off x="4022725" y="1508125"/>
            <a:ext cx="274637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9" name="Google Shape;159;p5"/>
          <p:cNvSpPr txBox="1"/>
          <p:nvPr/>
        </p:nvSpPr>
        <p:spPr>
          <a:xfrm>
            <a:off x="6035675" y="1096962"/>
            <a:ext cx="1371600" cy="41116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035675" y="1239837"/>
            <a:ext cx="13716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Queue</a:t>
            </a:r>
            <a:endParaRPr/>
          </a:p>
        </p:txBody>
      </p:sp>
      <p:cxnSp>
        <p:nvCxnSpPr>
          <p:cNvPr id="161" name="Google Shape;161;p5"/>
          <p:cNvCxnSpPr/>
          <p:nvPr/>
        </p:nvCxnSpPr>
        <p:spPr>
          <a:xfrm>
            <a:off x="5761037" y="1417637"/>
            <a:ext cx="274637" cy="0"/>
          </a:xfrm>
          <a:prstGeom prst="straightConnector1">
            <a:avLst/>
          </a:prstGeom>
          <a:noFill/>
          <a:ln cap="flat" cmpd="sng" w="19050">
            <a:solidFill>
              <a:srgbClr val="90E0E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2" name="Google Shape;162;p5"/>
          <p:cNvSpPr txBox="1"/>
          <p:nvPr/>
        </p:nvSpPr>
        <p:spPr>
          <a:xfrm>
            <a:off x="365125" y="1736725"/>
            <a:ext cx="8413750" cy="1235075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077B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57200" y="1828800"/>
            <a:ext cx="2286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SPECIALIST AGENTS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549275" y="2057400"/>
            <a:ext cx="2559050" cy="365125"/>
          </a:xfrm>
          <a:prstGeom prst="rect">
            <a:avLst/>
          </a:prstGeom>
          <a:solidFill>
            <a:srgbClr val="0077B6">
              <a:alpha val="7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49275" y="2171700"/>
            <a:ext cx="255905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Corporate Agent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822325" y="2487612"/>
            <a:ext cx="2012950" cy="319087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822325" y="2584450"/>
            <a:ext cx="201295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90E0EF"/>
                </a:solidFill>
                <a:latin typeface="Consolas"/>
                <a:ea typeface="Consolas"/>
                <a:cs typeface="Consolas"/>
                <a:sym typeface="Consolas"/>
              </a:rPr>
              <a:t>SEC EDGAR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3108325" y="2057400"/>
            <a:ext cx="2560637" cy="365125"/>
          </a:xfrm>
          <a:prstGeom prst="rect">
            <a:avLst/>
          </a:prstGeom>
          <a:solidFill>
            <a:srgbClr val="8B5CF6">
              <a:alpha val="7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3108325" y="2171700"/>
            <a:ext cx="2560637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Agent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3382962" y="2487612"/>
            <a:ext cx="2011362" cy="319087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3382962" y="2584450"/>
            <a:ext cx="201136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90E0EF"/>
                </a:solidFill>
                <a:latin typeface="Consolas"/>
                <a:ea typeface="Consolas"/>
                <a:cs typeface="Consolas"/>
                <a:sym typeface="Consolas"/>
              </a:rPr>
              <a:t>OFAC · CourtListener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5851525" y="2057400"/>
            <a:ext cx="2560637" cy="365125"/>
          </a:xfrm>
          <a:prstGeom prst="rect">
            <a:avLst/>
          </a:prstGeom>
          <a:solidFill>
            <a:srgbClr val="10B981">
              <a:alpha val="7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851525" y="2171700"/>
            <a:ext cx="2560637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Graph Agent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6126162" y="2487612"/>
            <a:ext cx="2011362" cy="319087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126162" y="2584450"/>
            <a:ext cx="201136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90E0EF"/>
                </a:solidFill>
                <a:latin typeface="Consolas"/>
                <a:ea typeface="Consolas"/>
                <a:cs typeface="Consolas"/>
                <a:sym typeface="Consolas"/>
              </a:rPr>
              <a:t>GDELT</a:t>
            </a:r>
            <a:endParaRPr/>
          </a:p>
        </p:txBody>
      </p:sp>
      <p:cxnSp>
        <p:nvCxnSpPr>
          <p:cNvPr id="176" name="Google Shape;176;p5"/>
          <p:cNvCxnSpPr/>
          <p:nvPr/>
        </p:nvCxnSpPr>
        <p:spPr>
          <a:xfrm>
            <a:off x="6721475" y="1508125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7" name="Google Shape;177;p5"/>
          <p:cNvSpPr txBox="1"/>
          <p:nvPr/>
        </p:nvSpPr>
        <p:spPr>
          <a:xfrm>
            <a:off x="2743200" y="3154362"/>
            <a:ext cx="3657600" cy="411162"/>
          </a:xfrm>
          <a:prstGeom prst="rect">
            <a:avLst/>
          </a:prstGeom>
          <a:solidFill>
            <a:srgbClr val="0077B6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2743200" y="3292475"/>
            <a:ext cx="36576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Pool (structured Evidence rows)</a:t>
            </a:r>
            <a:endParaRPr/>
          </a:p>
        </p:txBody>
      </p:sp>
      <p:cxnSp>
        <p:nvCxnSpPr>
          <p:cNvPr id="179" name="Google Shape;179;p5"/>
          <p:cNvCxnSpPr/>
          <p:nvPr/>
        </p:nvCxnSpPr>
        <p:spPr>
          <a:xfrm>
            <a:off x="4572000" y="2971800"/>
            <a:ext cx="0" cy="182562"/>
          </a:xfrm>
          <a:prstGeom prst="straightConnector1">
            <a:avLst/>
          </a:prstGeom>
          <a:noFill/>
          <a:ln cap="flat" cmpd="sng" w="12700">
            <a:solidFill>
              <a:srgbClr val="90E0E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0" name="Google Shape;180;p5"/>
          <p:cNvSpPr txBox="1"/>
          <p:nvPr/>
        </p:nvSpPr>
        <p:spPr>
          <a:xfrm>
            <a:off x="365125" y="3749675"/>
            <a:ext cx="5029200" cy="457200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457200" y="3908425"/>
            <a:ext cx="4846637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Reflexion Layer  </a:t>
            </a:r>
            <a:r>
              <a:rPr b="0" i="0" lang="en-US" sz="9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Cross-check · Gap Detection · Confidence · LLM Ranking</a:t>
            </a:r>
            <a:endParaRPr/>
          </a:p>
        </p:txBody>
      </p:sp>
      <p:cxnSp>
        <p:nvCxnSpPr>
          <p:cNvPr id="182" name="Google Shape;182;p5"/>
          <p:cNvCxnSpPr/>
          <p:nvPr/>
        </p:nvCxnSpPr>
        <p:spPr>
          <a:xfrm>
            <a:off x="4572000" y="3565525"/>
            <a:ext cx="0" cy="18415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3" name="Google Shape;183;p5"/>
          <p:cNvSpPr txBox="1"/>
          <p:nvPr/>
        </p:nvSpPr>
        <p:spPr>
          <a:xfrm>
            <a:off x="5668962" y="3749675"/>
            <a:ext cx="3109912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5761037" y="3908425"/>
            <a:ext cx="2925762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LLM Policies  </a:t>
            </a:r>
            <a:r>
              <a:rPr b="0" i="0" lang="en-US" sz="900" u="none">
                <a:solidFill>
                  <a:srgbClr val="5A4500"/>
                </a:solidFill>
                <a:latin typeface="Calibri"/>
                <a:ea typeface="Calibri"/>
                <a:cs typeface="Calibri"/>
                <a:sym typeface="Calibri"/>
              </a:rPr>
              <a:t>Action · Stop · Reflexion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365125" y="4389437"/>
            <a:ext cx="2286000" cy="547687"/>
          </a:xfrm>
          <a:prstGeom prst="rect">
            <a:avLst/>
          </a:prstGeom>
          <a:solidFill>
            <a:srgbClr val="00B4D8">
              <a:alpha val="74901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365125" y="4537075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NetworkX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2835275" y="4389437"/>
            <a:ext cx="2559050" cy="547687"/>
          </a:xfrm>
          <a:prstGeom prst="rect">
            <a:avLst/>
          </a:prstGeom>
          <a:solidFill>
            <a:srgbClr val="0077B6">
              <a:alpha val="74901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2835275" y="4537075"/>
            <a:ext cx="25590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· Dashboard · Audit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578475" y="4389437"/>
            <a:ext cx="2559050" cy="547687"/>
          </a:xfrm>
          <a:prstGeom prst="rect">
            <a:avLst/>
          </a:prstGeom>
          <a:solidFill>
            <a:srgbClr val="F59E0B">
              <a:alpha val="74901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5578475" y="4537075"/>
            <a:ext cx="25590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Narrative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 3.1 (strict contract)</a:t>
            </a:r>
            <a:endParaRPr/>
          </a:p>
        </p:txBody>
      </p:sp>
      <p:cxnSp>
        <p:nvCxnSpPr>
          <p:cNvPr id="191" name="Google Shape;191;p5"/>
          <p:cNvCxnSpPr/>
          <p:nvPr/>
        </p:nvCxnSpPr>
        <p:spPr>
          <a:xfrm>
            <a:off x="2743200" y="4206875"/>
            <a:ext cx="0" cy="182562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2" name="Google Shape;192;p5"/>
          <p:cNvSpPr txBox="1"/>
          <p:nvPr/>
        </p:nvSpPr>
        <p:spPr>
          <a:xfrm>
            <a:off x="8275637" y="4732337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LLM INTEGRATION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685800" y="520700"/>
            <a:ext cx="77724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0" i="0" lang="en-US" sz="18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Five LLM policies. One model. Zero hallucinated evidence.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639762" y="1050925"/>
            <a:ext cx="7864475" cy="4572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822325" y="1211262"/>
            <a:ext cx="749935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 </a:t>
            </a: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Llama 3.1-8b-instant  ·  Provider: Groq API  ·  Auth: GROQ_API_KEY  ·  JSON strict mode  ·  Retry-with-repair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639762" y="1646237"/>
            <a:ext cx="265271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639762" y="1646237"/>
            <a:ext cx="5556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777875" y="1751012"/>
            <a:ext cx="2376487" cy="15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Planner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777875" y="1965325"/>
            <a:ext cx="2376487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llm_planner.py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777875" y="2227262"/>
            <a:ext cx="2376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Decomposes query into bounded SubTasks (3-5 tasks, max 2 rounds)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777875" y="2616200"/>
            <a:ext cx="2376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temp: 0.2</a:t>
            </a:r>
            <a:r>
              <a:rPr b="0" i="0" lang="en-US" sz="800" u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·  tokens: 600</a:t>
            </a:r>
            <a:r>
              <a:rPr b="1" i="0" lang="en-US" sz="8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·  Lead Agent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3475037" y="1646237"/>
            <a:ext cx="2651125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3475037" y="1646237"/>
            <a:ext cx="53975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3611562" y="1751012"/>
            <a:ext cx="2378075" cy="15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 Policy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3611562" y="1965325"/>
            <a:ext cx="23780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action_policy.py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3611562" y="2290762"/>
            <a:ext cx="237807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Chooses next tool for each specialist agent per step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3611562" y="2616200"/>
            <a:ext cx="2378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temp: 0.1</a:t>
            </a:r>
            <a:r>
              <a:rPr b="0" i="0" lang="en-US" sz="800" u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·  tokens: 240</a:t>
            </a:r>
            <a:r>
              <a:rPr b="1" i="0" lang="en-US" sz="8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·  Lead Agent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639762" y="3200400"/>
            <a:ext cx="265271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639762" y="3200400"/>
            <a:ext cx="5556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777875" y="3305175"/>
            <a:ext cx="2376487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Stop Policy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777875" y="3519487"/>
            <a:ext cx="2376487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orchestrator.py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777875" y="3781425"/>
            <a:ext cx="2376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Decides if another agent round is needed or finalize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777875" y="4170362"/>
            <a:ext cx="2376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temp: 0.1</a:t>
            </a:r>
            <a:r>
              <a:rPr b="0" i="0" lang="en-US" sz="800" u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·  tokens: 200</a:t>
            </a:r>
            <a:r>
              <a:rPr b="1" i="0" lang="en-US" sz="8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·  Lead Agent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3475037" y="3200400"/>
            <a:ext cx="2651125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475037" y="3200400"/>
            <a:ext cx="53975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611562" y="3305175"/>
            <a:ext cx="2378075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Reflexion Ranking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3611562" y="3519487"/>
            <a:ext cx="23780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action_reflexion.py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3611562" y="3781425"/>
            <a:ext cx="2378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Ranks follow-up actions after gap/conflict detection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3611562" y="4170362"/>
            <a:ext cx="2378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temp: 0.1</a:t>
            </a:r>
            <a:r>
              <a:rPr b="0" i="0" lang="en-US" sz="800" u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·  tokens: 320</a:t>
            </a:r>
            <a:r>
              <a:rPr b="1" i="0" lang="en-US" sz="8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·  Reflexion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6308725" y="3200400"/>
            <a:ext cx="265271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6308725" y="3200400"/>
            <a:ext cx="5556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6446837" y="3305175"/>
            <a:ext cx="2376487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Final Narrative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6446837" y="3519487"/>
            <a:ext cx="2376487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llm_narrative.py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6446837" y="3781425"/>
            <a:ext cx="2376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Generates strict 5-section analyst narrative from metrics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6446837" y="4233862"/>
            <a:ext cx="2376487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800"/>
              <a:buFont typeface="Consolas"/>
              <a:buNone/>
            </a:pPr>
            <a:r>
              <a:rPr b="0" i="0" lang="en-US" sz="8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temp: 0.2</a:t>
            </a:r>
            <a:r>
              <a:rPr b="0" i="0" lang="en-US" sz="800" u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·  tokens: 650</a:t>
            </a:r>
            <a:r>
              <a:rPr b="1" i="0" lang="en-US" sz="8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·  App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685800" y="442912"/>
            <a:ext cx="7223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Four public sources. Zero runtime cost.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457200" y="1096962"/>
            <a:ext cx="1920875" cy="30178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457200" y="1096962"/>
            <a:ext cx="1920875" cy="5556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3255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549275" y="1985962"/>
            <a:ext cx="1736725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 EDGAR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549275" y="2263775"/>
            <a:ext cx="1736725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Corporate Filings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549275" y="2579687"/>
            <a:ext cx="17367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 Black"/>
              <a:buNone/>
            </a:pPr>
            <a:r>
              <a:rPr b="0" i="0" lang="en-US" sz="2400" u="none">
                <a:solidFill>
                  <a:srgbClr val="0077B6"/>
                </a:solidFill>
                <a:latin typeface="Arial Black"/>
                <a:ea typeface="Arial Black"/>
                <a:cs typeface="Arial Black"/>
                <a:sym typeface="Arial Black"/>
              </a:rPr>
              <a:t>500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549275" y="3022600"/>
            <a:ext cx="173672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filings/entity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85800" y="3382962"/>
            <a:ext cx="1463675" cy="36671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685800" y="3497262"/>
            <a:ext cx="146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 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r>
              <a:rPr b="1" lang="en-US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0.95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2606675" y="1096962"/>
            <a:ext cx="1919287" cy="30178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2606675" y="1096962"/>
            <a:ext cx="1919287" cy="5556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251" name="Google Shape;2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2475" y="1325562"/>
            <a:ext cx="501650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/>
        </p:nvSpPr>
        <p:spPr>
          <a:xfrm>
            <a:off x="2697162" y="1985962"/>
            <a:ext cx="1738312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OFAC SDN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2697162" y="2263775"/>
            <a:ext cx="1738312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Sanctions List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2697162" y="2579687"/>
            <a:ext cx="173831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Arial Black"/>
              <a:buNone/>
            </a:pPr>
            <a:r>
              <a:rPr b="0" i="0" lang="en-US" sz="2400" u="non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18,714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2697162" y="3022600"/>
            <a:ext cx="173831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2835275" y="3382962"/>
            <a:ext cx="1462087" cy="36671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2835275" y="3497262"/>
            <a:ext cx="1462087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 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4754562" y="1096962"/>
            <a:ext cx="1920875" cy="30178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4754562" y="1096962"/>
            <a:ext cx="1920875" cy="5556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260" name="Google Shape;2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362" y="13255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 txBox="1"/>
          <p:nvPr/>
        </p:nvSpPr>
        <p:spPr>
          <a:xfrm>
            <a:off x="4846637" y="1985962"/>
            <a:ext cx="1736725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CourtListener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4846637" y="2263775"/>
            <a:ext cx="1736725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Court Records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4846637" y="2579687"/>
            <a:ext cx="17367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Arial Black"/>
              <a:buNone/>
            </a:pPr>
            <a:r>
              <a:rPr b="0" i="0" lang="en-US" sz="2400" u="non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4846637" y="3022600"/>
            <a:ext cx="173672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dockets/query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4983162" y="3382962"/>
            <a:ext cx="1463675" cy="36671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4983162" y="3497262"/>
            <a:ext cx="1463675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 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6904037" y="1096962"/>
            <a:ext cx="1919287" cy="3017837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6904037" y="1096962"/>
            <a:ext cx="1919287" cy="5556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269" name="Google Shape;26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837" y="1325562"/>
            <a:ext cx="5032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"/>
          <p:cNvSpPr txBox="1"/>
          <p:nvPr/>
        </p:nvSpPr>
        <p:spPr>
          <a:xfrm>
            <a:off x="6994525" y="1985962"/>
            <a:ext cx="1738312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GDELT 2.0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6994525" y="2263775"/>
            <a:ext cx="1738312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Adverse Media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6994525" y="2579687"/>
            <a:ext cx="173831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Arial Black"/>
              <a:buNone/>
            </a:pPr>
            <a:r>
              <a:rPr b="0" i="0" lang="en-US" sz="2400" u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100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6994525" y="3022600"/>
            <a:ext cx="173831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articles/query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7132637" y="3382962"/>
            <a:ext cx="1462087" cy="36671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7132637" y="3497262"/>
            <a:ext cx="146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 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0.30</a:t>
            </a:r>
            <a:r>
              <a:rPr b="1" lang="en-US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10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685800" y="4435475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data cached after first pull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b="0" i="0" lang="en-US" sz="10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investigations replay from disk. No API calls at runtime.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SPECIALIST AGENTS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685800" y="506012"/>
            <a:ext cx="800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US" sz="17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Three workers. One shared protocol. LLM-guided tool selection.</a:t>
            </a:r>
            <a:endParaRPr sz="900"/>
          </a:p>
        </p:txBody>
      </p:sp>
      <p:sp>
        <p:nvSpPr>
          <p:cNvPr id="285" name="Google Shape;285;p8"/>
          <p:cNvSpPr txBox="1"/>
          <p:nvPr/>
        </p:nvSpPr>
        <p:spPr>
          <a:xfrm>
            <a:off x="639762" y="1006475"/>
            <a:ext cx="7864500" cy="4113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822325" y="1046162"/>
            <a:ext cx="749935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b="0" i="0" lang="en-US" sz="11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run(entity, task, context) → List[Evidence]                    LLM Action Policy selects tools per step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457200" y="1646237"/>
            <a:ext cx="2697162" cy="30178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457200" y="1646237"/>
            <a:ext cx="2697162" cy="53975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89" name="Google Shape;2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675" y="1782762"/>
            <a:ext cx="547687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 txBox="1"/>
          <p:nvPr/>
        </p:nvSpPr>
        <p:spPr>
          <a:xfrm>
            <a:off x="549275" y="2443162"/>
            <a:ext cx="25146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Corporate Agent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639762" y="2789237"/>
            <a:ext cx="2332037" cy="2460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85800" y="2843212"/>
            <a:ext cx="2239962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corporate_structure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639762" y="3081337"/>
            <a:ext cx="2332037" cy="2476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685800" y="3135312"/>
            <a:ext cx="2239962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sec_filings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639762" y="3373437"/>
            <a:ext cx="2332037" cy="2476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685800" y="3427412"/>
            <a:ext cx="2239962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transaction_patterns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593725" y="4064000"/>
            <a:ext cx="24241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 EDGAR → up to 500 filings + 1 governance summary. Tiered confidence by form type (8-K: 0.95, 10-K: 0.85, Form 4: 0.75).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3336925" y="1646237"/>
            <a:ext cx="2698750" cy="30178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3336925" y="1646237"/>
            <a:ext cx="2698750" cy="5397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300" name="Google Shape;3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782762"/>
            <a:ext cx="549275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 txBox="1"/>
          <p:nvPr/>
        </p:nvSpPr>
        <p:spPr>
          <a:xfrm>
            <a:off x="3429000" y="2443162"/>
            <a:ext cx="25146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Legal Agent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3521075" y="2789237"/>
            <a:ext cx="2330450" cy="2460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3565525" y="2843212"/>
            <a:ext cx="224155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sanctions_screening</a:t>
            </a:r>
            <a:endParaRPr/>
          </a:p>
        </p:txBody>
      </p:sp>
      <p:sp>
        <p:nvSpPr>
          <p:cNvPr id="304" name="Google Shape;304;p8"/>
          <p:cNvSpPr txBox="1"/>
          <p:nvPr/>
        </p:nvSpPr>
        <p:spPr>
          <a:xfrm>
            <a:off x="3521075" y="3081337"/>
            <a:ext cx="2330450" cy="2476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3565525" y="3135312"/>
            <a:ext cx="224155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litigation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3475037" y="3771900"/>
            <a:ext cx="24225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OFAC SDN → fuzzy match across 18,712 entries with false-positive guards. CourtListener → up to 20 federal dockets.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6218237" y="1646237"/>
            <a:ext cx="2697162" cy="30178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6218237" y="1646237"/>
            <a:ext cx="2697162" cy="53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309" name="Google Shape;30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3125" y="1782762"/>
            <a:ext cx="549275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 txBox="1"/>
          <p:nvPr/>
        </p:nvSpPr>
        <p:spPr>
          <a:xfrm>
            <a:off x="6308725" y="2443162"/>
            <a:ext cx="25146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Social Graph Agent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6400800" y="2789237"/>
            <a:ext cx="2332037" cy="2460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 txBox="1"/>
          <p:nvPr/>
        </p:nvSpPr>
        <p:spPr>
          <a:xfrm>
            <a:off x="6446837" y="2843212"/>
            <a:ext cx="2239962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adverse_media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6400800" y="3081337"/>
            <a:ext cx="2332037" cy="2476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6446837" y="3135312"/>
            <a:ext cx="2239962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network_analysis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6354762" y="3771900"/>
            <a:ext cx="24241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GDELT → up to 100 news articles, English-filtered, title-scored by relevance (entity + risk keyword → 0.75).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RUNTIME PIPELINE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685800" y="449262"/>
            <a:ext cx="7772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0" i="0" lang="en-US" sz="21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From plain English to cited report in 22.17 seconds.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639762" y="1096962"/>
            <a:ext cx="503237" cy="503237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639762" y="1262062"/>
            <a:ext cx="503237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1279525" y="1143000"/>
            <a:ext cx="641350" cy="365125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1279525" y="1249362"/>
            <a:ext cx="64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0.2s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2103437" y="1254125"/>
            <a:ext cx="22860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 Entity</a:t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4389437" y="1281112"/>
            <a:ext cx="41148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"Tesla" → CIK 0001318605</a:t>
            </a:r>
            <a:endParaRPr/>
          </a:p>
        </p:txBody>
      </p:sp>
      <p:cxnSp>
        <p:nvCxnSpPr>
          <p:cNvPr id="330" name="Google Shape;330;p9"/>
          <p:cNvCxnSpPr/>
          <p:nvPr/>
        </p:nvCxnSpPr>
        <p:spPr>
          <a:xfrm>
            <a:off x="892175" y="16002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1" name="Google Shape;331;p9"/>
          <p:cNvSpPr/>
          <p:nvPr/>
        </p:nvSpPr>
        <p:spPr>
          <a:xfrm>
            <a:off x="639762" y="1828800"/>
            <a:ext cx="503237" cy="503237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639762" y="1993900"/>
            <a:ext cx="503237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1279525" y="1874837"/>
            <a:ext cx="641350" cy="365125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1279525" y="1981200"/>
            <a:ext cx="64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7.5s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2103437" y="1985962"/>
            <a:ext cx="22860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Plans Tasks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4389437" y="2012950"/>
            <a:ext cx="41148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Llama 3.1 → 3-5 bounded SubTasks</a:t>
            </a:r>
            <a:endParaRPr/>
          </a:p>
        </p:txBody>
      </p:sp>
      <p:cxnSp>
        <p:nvCxnSpPr>
          <p:cNvPr id="337" name="Google Shape;337;p9"/>
          <p:cNvCxnSpPr/>
          <p:nvPr/>
        </p:nvCxnSpPr>
        <p:spPr>
          <a:xfrm>
            <a:off x="892175" y="2332037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8" name="Google Shape;338;p9"/>
          <p:cNvSpPr/>
          <p:nvPr/>
        </p:nvSpPr>
        <p:spPr>
          <a:xfrm>
            <a:off x="639762" y="2560637"/>
            <a:ext cx="503237" cy="503237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639762" y="2725737"/>
            <a:ext cx="503237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40" name="Google Shape;340;p9"/>
          <p:cNvSpPr txBox="1"/>
          <p:nvPr/>
        </p:nvSpPr>
        <p:spPr>
          <a:xfrm>
            <a:off x="1279525" y="2606675"/>
            <a:ext cx="641350" cy="365125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1279525" y="2713037"/>
            <a:ext cx="64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1.5s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2103437" y="2717800"/>
            <a:ext cx="22860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Agents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4389437" y="2744787"/>
            <a:ext cx="4114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 specialists gather 1,125 evidence rows</a:t>
            </a:r>
            <a:endParaRPr/>
          </a:p>
        </p:txBody>
      </p:sp>
      <p:cxnSp>
        <p:nvCxnSpPr>
          <p:cNvPr id="344" name="Google Shape;344;p9"/>
          <p:cNvCxnSpPr/>
          <p:nvPr/>
        </p:nvCxnSpPr>
        <p:spPr>
          <a:xfrm>
            <a:off x="892175" y="3063875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5" name="Google Shape;345;p9"/>
          <p:cNvSpPr/>
          <p:nvPr/>
        </p:nvSpPr>
        <p:spPr>
          <a:xfrm>
            <a:off x="639762" y="3292475"/>
            <a:ext cx="503237" cy="5016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639762" y="3457575"/>
            <a:ext cx="503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47" name="Google Shape;347;p9"/>
          <p:cNvSpPr txBox="1"/>
          <p:nvPr/>
        </p:nvSpPr>
        <p:spPr>
          <a:xfrm>
            <a:off x="1279525" y="3336925"/>
            <a:ext cx="641350" cy="36671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1279525" y="3444875"/>
            <a:ext cx="64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6.0s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2103437" y="344805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Reflexion + LLM</a:t>
            </a:r>
            <a:endParaRPr/>
          </a:p>
        </p:txBody>
      </p:sp>
      <p:sp>
        <p:nvSpPr>
          <p:cNvPr id="350" name="Google Shape;350;p9"/>
          <p:cNvSpPr txBox="1"/>
          <p:nvPr/>
        </p:nvSpPr>
        <p:spPr>
          <a:xfrm>
            <a:off x="4389437" y="3476625"/>
            <a:ext cx="4114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Cross-check · gaps · LLM ranking</a:t>
            </a:r>
            <a:endParaRPr/>
          </a:p>
        </p:txBody>
      </p:sp>
      <p:cxnSp>
        <p:nvCxnSpPr>
          <p:cNvPr id="351" name="Google Shape;351;p9"/>
          <p:cNvCxnSpPr/>
          <p:nvPr/>
        </p:nvCxnSpPr>
        <p:spPr>
          <a:xfrm>
            <a:off x="892175" y="3794125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2" name="Google Shape;352;p9"/>
          <p:cNvSpPr/>
          <p:nvPr/>
        </p:nvSpPr>
        <p:spPr>
          <a:xfrm>
            <a:off x="639762" y="4022725"/>
            <a:ext cx="503237" cy="503237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639762" y="4187825"/>
            <a:ext cx="503237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1279525" y="4068762"/>
            <a:ext cx="641350" cy="36671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1279525" y="4175125"/>
            <a:ext cx="64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000"/>
              <a:buFont typeface="Consolas"/>
              <a:buNone/>
            </a:pPr>
            <a:r>
              <a:rPr b="1" i="0" lang="en-US" sz="1000" u="none">
                <a:solidFill>
                  <a:srgbClr val="0077B6"/>
                </a:solidFill>
                <a:latin typeface="Consolas"/>
                <a:ea typeface="Consolas"/>
                <a:cs typeface="Consolas"/>
                <a:sym typeface="Consolas"/>
              </a:rPr>
              <a:t>7.0s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2103437" y="4179887"/>
            <a:ext cx="2286000" cy="18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+ Narrative</a:t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4389437" y="4208462"/>
            <a:ext cx="4114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Knowledge graph + Llama 3.1 narrative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639762" y="4572000"/>
            <a:ext cx="2560637" cy="4572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731837" y="4654550"/>
            <a:ext cx="2376487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Arial Black"/>
              <a:buNone/>
            </a:pPr>
            <a:r>
              <a:rPr b="0" i="0" lang="en-US" sz="16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1,125  </a:t>
            </a:r>
            <a:r>
              <a:rPr b="1" i="0" lang="en-US" sz="8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EVIDENCE ROWS</a:t>
            </a:r>
            <a:endParaRPr/>
          </a:p>
        </p:txBody>
      </p:sp>
      <p:sp>
        <p:nvSpPr>
          <p:cNvPr id="360" name="Google Shape;360;p9"/>
          <p:cNvSpPr txBox="1"/>
          <p:nvPr/>
        </p:nvSpPr>
        <p:spPr>
          <a:xfrm>
            <a:off x="3475037" y="4572000"/>
            <a:ext cx="2560637" cy="4572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 txBox="1"/>
          <p:nvPr/>
        </p:nvSpPr>
        <p:spPr>
          <a:xfrm>
            <a:off x="3565525" y="4654550"/>
            <a:ext cx="2378075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 Black"/>
              <a:buNone/>
            </a:pPr>
            <a:r>
              <a:rPr b="0" i="0" lang="en-US" sz="1600" u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88  </a:t>
            </a:r>
            <a:r>
              <a:rPr b="1" i="0" lang="en-US" sz="8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CROSS-CHECK CONFLICTS</a:t>
            </a:r>
            <a:endParaRPr/>
          </a:p>
        </p:txBody>
      </p:sp>
      <p:sp>
        <p:nvSpPr>
          <p:cNvPr id="362" name="Google Shape;362;p9"/>
          <p:cNvSpPr txBox="1"/>
          <p:nvPr/>
        </p:nvSpPr>
        <p:spPr>
          <a:xfrm>
            <a:off x="6308725" y="4572000"/>
            <a:ext cx="2560637" cy="4572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6400800" y="4654550"/>
            <a:ext cx="2378075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Arial Black"/>
              <a:buNone/>
            </a:pPr>
            <a:r>
              <a:rPr b="0" i="0" lang="en-US" sz="1600" u="non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0.81  </a:t>
            </a:r>
            <a:r>
              <a:rPr b="1" i="0" lang="en-US" sz="8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CONFIDENCE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8275637" y="4732337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endParaRPr/>
          </a:p>
        </p:txBody>
      </p:sp>
      <p:sp>
        <p:nvSpPr>
          <p:cNvPr id="371" name="Google Shape;371;p10"/>
          <p:cNvSpPr txBox="1"/>
          <p:nvPr/>
        </p:nvSpPr>
        <p:spPr>
          <a:xfrm>
            <a:off x="685800" y="420687"/>
            <a:ext cx="7223125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373" name="Google Shape;373;p10" title="Capstone_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50" y="420675"/>
            <a:ext cx="7878900" cy="46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685800" y="420687"/>
            <a:ext cx="7223125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Per-Entity Performance Metrics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457200" y="1050925"/>
            <a:ext cx="7589837" cy="41275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457200" y="1193800"/>
            <a:ext cx="1646237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</p:txBody>
      </p:sp>
      <p:sp>
        <p:nvSpPr>
          <p:cNvPr id="383" name="Google Shape;383;p11"/>
          <p:cNvSpPr txBox="1"/>
          <p:nvPr/>
        </p:nvSpPr>
        <p:spPr>
          <a:xfrm>
            <a:off x="2103437" y="1193800"/>
            <a:ext cx="127952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3382962" y="1193800"/>
            <a:ext cx="914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Findings</a:t>
            </a:r>
            <a:endParaRPr/>
          </a:p>
        </p:txBody>
      </p:sp>
      <p:sp>
        <p:nvSpPr>
          <p:cNvPr id="385" name="Google Shape;385;p11"/>
          <p:cNvSpPr txBox="1"/>
          <p:nvPr/>
        </p:nvSpPr>
        <p:spPr>
          <a:xfrm>
            <a:off x="4389437" y="1193800"/>
            <a:ext cx="914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/>
          </a:p>
        </p:txBody>
      </p:sp>
      <p:sp>
        <p:nvSpPr>
          <p:cNvPr id="386" name="Google Shape;386;p11"/>
          <p:cNvSpPr txBox="1"/>
          <p:nvPr/>
        </p:nvSpPr>
        <p:spPr>
          <a:xfrm>
            <a:off x="5303837" y="1193800"/>
            <a:ext cx="914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Citation</a:t>
            </a:r>
            <a:endParaRPr/>
          </a:p>
        </p:txBody>
      </p:sp>
      <p:sp>
        <p:nvSpPr>
          <p:cNvPr id="387" name="Google Shape;387;p11"/>
          <p:cNvSpPr txBox="1"/>
          <p:nvPr/>
        </p:nvSpPr>
        <p:spPr>
          <a:xfrm>
            <a:off x="6218237" y="1193800"/>
            <a:ext cx="914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GDELT</a:t>
            </a:r>
            <a:endParaRPr/>
          </a:p>
        </p:txBody>
      </p:sp>
      <p:sp>
        <p:nvSpPr>
          <p:cNvPr id="388" name="Google Shape;388;p11"/>
          <p:cNvSpPr txBox="1"/>
          <p:nvPr/>
        </p:nvSpPr>
        <p:spPr>
          <a:xfrm>
            <a:off x="7132637" y="1193800"/>
            <a:ext cx="914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Arial"/>
              <a:buNone/>
            </a:pPr>
            <a:r>
              <a:rPr b="1" i="0" lang="en-US" sz="9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389" name="Google Shape;389;p11"/>
          <p:cNvSpPr txBox="1"/>
          <p:nvPr/>
        </p:nvSpPr>
        <p:spPr>
          <a:xfrm>
            <a:off x="457200" y="1463675"/>
            <a:ext cx="758983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457200" y="1624012"/>
            <a:ext cx="16462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Tesla, Inc.</a:t>
            </a:r>
            <a:endParaRPr/>
          </a:p>
        </p:txBody>
      </p:sp>
      <p:sp>
        <p:nvSpPr>
          <p:cNvPr id="391" name="Google Shape;391;p11"/>
          <p:cNvSpPr txBox="1"/>
          <p:nvPr/>
        </p:nvSpPr>
        <p:spPr>
          <a:xfrm>
            <a:off x="2103437" y="1624012"/>
            <a:ext cx="1279525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Auto/Tech</a:t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3382962" y="1624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1125</a:t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4389437" y="1624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21.20s</a:t>
            </a:r>
            <a:endParaRPr/>
          </a:p>
        </p:txBody>
      </p:sp>
      <p:sp>
        <p:nvSpPr>
          <p:cNvPr id="394" name="Google Shape;394;p11"/>
          <p:cNvSpPr txBox="1"/>
          <p:nvPr/>
        </p:nvSpPr>
        <p:spPr>
          <a:xfrm>
            <a:off x="5303837" y="1624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98.0%</a:t>
            </a:r>
            <a:endParaRPr/>
          </a:p>
        </p:txBody>
      </p:sp>
      <p:sp>
        <p:nvSpPr>
          <p:cNvPr id="395" name="Google Shape;395;p11"/>
          <p:cNvSpPr txBox="1"/>
          <p:nvPr/>
        </p:nvSpPr>
        <p:spPr>
          <a:xfrm>
            <a:off x="6218237" y="1624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49%</a:t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7132637" y="1624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</p:txBody>
      </p:sp>
      <p:sp>
        <p:nvSpPr>
          <p:cNvPr id="397" name="Google Shape;397;p11"/>
          <p:cNvSpPr txBox="1"/>
          <p:nvPr/>
        </p:nvSpPr>
        <p:spPr>
          <a:xfrm>
            <a:off x="457200" y="1920875"/>
            <a:ext cx="7589837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457200" y="2081212"/>
            <a:ext cx="16462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Ford Motor Co.</a:t>
            </a:r>
            <a:endParaRPr/>
          </a:p>
        </p:txBody>
      </p:sp>
      <p:sp>
        <p:nvSpPr>
          <p:cNvPr id="399" name="Google Shape;399;p11"/>
          <p:cNvSpPr txBox="1"/>
          <p:nvPr/>
        </p:nvSpPr>
        <p:spPr>
          <a:xfrm>
            <a:off x="2103437" y="2081212"/>
            <a:ext cx="1279525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Automotive</a:t>
            </a:r>
            <a:endParaRPr/>
          </a:p>
        </p:txBody>
      </p:sp>
      <p:sp>
        <p:nvSpPr>
          <p:cNvPr id="400" name="Google Shape;400;p11"/>
          <p:cNvSpPr txBox="1"/>
          <p:nvPr/>
        </p:nvSpPr>
        <p:spPr>
          <a:xfrm>
            <a:off x="3382962" y="20812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598</a:t>
            </a:r>
            <a:endParaRPr/>
          </a:p>
        </p:txBody>
      </p:sp>
      <p:sp>
        <p:nvSpPr>
          <p:cNvPr id="401" name="Google Shape;401;p11"/>
          <p:cNvSpPr txBox="1"/>
          <p:nvPr/>
        </p:nvSpPr>
        <p:spPr>
          <a:xfrm>
            <a:off x="4389437" y="20812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23.62s</a:t>
            </a:r>
            <a:endParaRPr/>
          </a:p>
        </p:txBody>
      </p:sp>
      <p:sp>
        <p:nvSpPr>
          <p:cNvPr id="402" name="Google Shape;402;p11"/>
          <p:cNvSpPr txBox="1"/>
          <p:nvPr/>
        </p:nvSpPr>
        <p:spPr>
          <a:xfrm>
            <a:off x="5303837" y="20812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96.5%</a:t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6218237" y="20812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49%</a:t>
            </a:r>
            <a:endParaRPr/>
          </a:p>
        </p:txBody>
      </p:sp>
      <p:sp>
        <p:nvSpPr>
          <p:cNvPr id="404" name="Google Shape;404;p11"/>
          <p:cNvSpPr txBox="1"/>
          <p:nvPr/>
        </p:nvSpPr>
        <p:spPr>
          <a:xfrm>
            <a:off x="7132637" y="20812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</p:txBody>
      </p:sp>
      <p:sp>
        <p:nvSpPr>
          <p:cNvPr id="405" name="Google Shape;405;p11"/>
          <p:cNvSpPr txBox="1"/>
          <p:nvPr/>
        </p:nvSpPr>
        <p:spPr>
          <a:xfrm>
            <a:off x="457200" y="2378075"/>
            <a:ext cx="758983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457200" y="2538412"/>
            <a:ext cx="16462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Boeing Co.</a:t>
            </a:r>
            <a:endParaRPr/>
          </a:p>
        </p:txBody>
      </p:sp>
      <p:sp>
        <p:nvSpPr>
          <p:cNvPr id="407" name="Google Shape;407;p11"/>
          <p:cNvSpPr txBox="1"/>
          <p:nvPr/>
        </p:nvSpPr>
        <p:spPr>
          <a:xfrm>
            <a:off x="2103437" y="2538412"/>
            <a:ext cx="1279525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Aerospace</a:t>
            </a:r>
            <a:endParaRPr/>
          </a:p>
        </p:txBody>
      </p:sp>
      <p:sp>
        <p:nvSpPr>
          <p:cNvPr id="408" name="Google Shape;408;p11"/>
          <p:cNvSpPr txBox="1"/>
          <p:nvPr/>
        </p:nvSpPr>
        <p:spPr>
          <a:xfrm>
            <a:off x="3382962" y="25384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1088</a:t>
            </a:r>
            <a:endParaRPr/>
          </a:p>
        </p:txBody>
      </p:sp>
      <p:sp>
        <p:nvSpPr>
          <p:cNvPr id="409" name="Google Shape;409;p11"/>
          <p:cNvSpPr txBox="1"/>
          <p:nvPr/>
        </p:nvSpPr>
        <p:spPr>
          <a:xfrm>
            <a:off x="4389437" y="25384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20.45s</a:t>
            </a:r>
            <a:endParaRPr/>
          </a:p>
        </p:txBody>
      </p:sp>
      <p:sp>
        <p:nvSpPr>
          <p:cNvPr id="410" name="Google Shape;410;p11"/>
          <p:cNvSpPr txBox="1"/>
          <p:nvPr/>
        </p:nvSpPr>
        <p:spPr>
          <a:xfrm>
            <a:off x="5303837" y="25384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97.9%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6218237" y="25384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>
            <a:off x="7132637" y="25384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</p:txBody>
      </p:sp>
      <p:sp>
        <p:nvSpPr>
          <p:cNvPr id="413" name="Google Shape;413;p11"/>
          <p:cNvSpPr txBox="1"/>
          <p:nvPr/>
        </p:nvSpPr>
        <p:spPr>
          <a:xfrm>
            <a:off x="457200" y="2835275"/>
            <a:ext cx="7589837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457200" y="2995612"/>
            <a:ext cx="16462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Alphabet Inc.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2103437" y="2995612"/>
            <a:ext cx="1279525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/>
          </a:p>
        </p:txBody>
      </p:sp>
      <p:sp>
        <p:nvSpPr>
          <p:cNvPr id="416" name="Google Shape;416;p11"/>
          <p:cNvSpPr txBox="1"/>
          <p:nvPr/>
        </p:nvSpPr>
        <p:spPr>
          <a:xfrm>
            <a:off x="3382962" y="29956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1121</a:t>
            </a:r>
            <a:endParaRPr/>
          </a:p>
        </p:txBody>
      </p:sp>
      <p:sp>
        <p:nvSpPr>
          <p:cNvPr id="417" name="Google Shape;417;p11"/>
          <p:cNvSpPr txBox="1"/>
          <p:nvPr/>
        </p:nvSpPr>
        <p:spPr>
          <a:xfrm>
            <a:off x="4389437" y="29956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23.81s</a:t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5303837" y="29956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98.0%</a:t>
            </a:r>
            <a:endParaRPr/>
          </a:p>
        </p:txBody>
      </p:sp>
      <p:sp>
        <p:nvSpPr>
          <p:cNvPr id="419" name="Google Shape;419;p11"/>
          <p:cNvSpPr txBox="1"/>
          <p:nvPr/>
        </p:nvSpPr>
        <p:spPr>
          <a:xfrm>
            <a:off x="6218237" y="29956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/>
          </a:p>
        </p:txBody>
      </p:sp>
      <p:sp>
        <p:nvSpPr>
          <p:cNvPr id="420" name="Google Shape;420;p11"/>
          <p:cNvSpPr txBox="1"/>
          <p:nvPr/>
        </p:nvSpPr>
        <p:spPr>
          <a:xfrm>
            <a:off x="7132637" y="29956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</p:txBody>
      </p:sp>
      <p:sp>
        <p:nvSpPr>
          <p:cNvPr id="421" name="Google Shape;421;p11"/>
          <p:cNvSpPr txBox="1"/>
          <p:nvPr/>
        </p:nvSpPr>
        <p:spPr>
          <a:xfrm>
            <a:off x="457200" y="3292475"/>
            <a:ext cx="758983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457200" y="3452812"/>
            <a:ext cx="16462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JPMorgan Chase</a:t>
            </a:r>
            <a:endParaRPr/>
          </a:p>
        </p:txBody>
      </p:sp>
      <p:sp>
        <p:nvSpPr>
          <p:cNvPr id="423" name="Google Shape;423;p11"/>
          <p:cNvSpPr txBox="1"/>
          <p:nvPr/>
        </p:nvSpPr>
        <p:spPr>
          <a:xfrm>
            <a:off x="2103437" y="3452812"/>
            <a:ext cx="1279525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/>
          </a:p>
        </p:txBody>
      </p:sp>
      <p:sp>
        <p:nvSpPr>
          <p:cNvPr id="424" name="Google Shape;424;p11"/>
          <p:cNvSpPr txBox="1"/>
          <p:nvPr/>
        </p:nvSpPr>
        <p:spPr>
          <a:xfrm>
            <a:off x="3382962" y="34528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1119</a:t>
            </a:r>
            <a:endParaRPr/>
          </a:p>
        </p:txBody>
      </p:sp>
      <p:sp>
        <p:nvSpPr>
          <p:cNvPr id="425" name="Google Shape;425;p11"/>
          <p:cNvSpPr txBox="1"/>
          <p:nvPr/>
        </p:nvSpPr>
        <p:spPr>
          <a:xfrm>
            <a:off x="4389437" y="34528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21.77s</a:t>
            </a:r>
            <a:endParaRPr/>
          </a:p>
        </p:txBody>
      </p:sp>
      <p:sp>
        <p:nvSpPr>
          <p:cNvPr id="426" name="Google Shape;426;p11"/>
          <p:cNvSpPr txBox="1"/>
          <p:nvPr/>
        </p:nvSpPr>
        <p:spPr>
          <a:xfrm>
            <a:off x="5303837" y="34528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97.9%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6218237" y="34528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428" name="Google Shape;428;p11"/>
          <p:cNvSpPr txBox="1"/>
          <p:nvPr/>
        </p:nvSpPr>
        <p:spPr>
          <a:xfrm>
            <a:off x="7132637" y="34528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</p:txBody>
      </p:sp>
      <p:sp>
        <p:nvSpPr>
          <p:cNvPr id="429" name="Google Shape;429;p11"/>
          <p:cNvSpPr txBox="1"/>
          <p:nvPr/>
        </p:nvSpPr>
        <p:spPr>
          <a:xfrm>
            <a:off x="457200" y="3749675"/>
            <a:ext cx="7589837" cy="4572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457200" y="3910012"/>
            <a:ext cx="16462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/>
          </a:p>
        </p:txBody>
      </p:sp>
      <p:sp>
        <p:nvSpPr>
          <p:cNvPr id="431" name="Google Shape;431;p11"/>
          <p:cNvSpPr txBox="1"/>
          <p:nvPr/>
        </p:nvSpPr>
        <p:spPr>
          <a:xfrm>
            <a:off x="3382962" y="3910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1,010</a:t>
            </a:r>
            <a:endParaRPr/>
          </a:p>
        </p:txBody>
      </p:sp>
      <p:sp>
        <p:nvSpPr>
          <p:cNvPr id="432" name="Google Shape;432;p11"/>
          <p:cNvSpPr txBox="1"/>
          <p:nvPr/>
        </p:nvSpPr>
        <p:spPr>
          <a:xfrm>
            <a:off x="4389437" y="3910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22.17s</a:t>
            </a:r>
            <a:endParaRPr/>
          </a:p>
        </p:txBody>
      </p:sp>
      <p:sp>
        <p:nvSpPr>
          <p:cNvPr id="433" name="Google Shape;433;p11"/>
          <p:cNvSpPr txBox="1"/>
          <p:nvPr/>
        </p:nvSpPr>
        <p:spPr>
          <a:xfrm>
            <a:off x="5303837" y="3910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97.7%</a:t>
            </a:r>
            <a:endParaRPr/>
          </a:p>
        </p:txBody>
      </p:sp>
      <p:sp>
        <p:nvSpPr>
          <p:cNvPr id="434" name="Google Shape;434;p11"/>
          <p:cNvSpPr txBox="1"/>
          <p:nvPr/>
        </p:nvSpPr>
        <p:spPr>
          <a:xfrm>
            <a:off x="6218237" y="3910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/>
          </a:p>
        </p:txBody>
      </p:sp>
      <p:sp>
        <p:nvSpPr>
          <p:cNvPr id="435" name="Google Shape;435;p11"/>
          <p:cNvSpPr txBox="1"/>
          <p:nvPr/>
        </p:nvSpPr>
        <p:spPr>
          <a:xfrm>
            <a:off x="7132637" y="3910012"/>
            <a:ext cx="914400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</p:txBody>
      </p:sp>
      <p:sp>
        <p:nvSpPr>
          <p:cNvPr id="436" name="Google Shape;436;p11"/>
          <p:cNvSpPr txBox="1"/>
          <p:nvPr/>
        </p:nvSpPr>
        <p:spPr>
          <a:xfrm>
            <a:off x="457200" y="4435475"/>
            <a:ext cx="7589837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639762" y="4592637"/>
            <a:ext cx="722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KEY  </a:t>
            </a:r>
            <a:r>
              <a:rPr b="0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5 entities achieve full source coverage (4/4) with 97.7% average citation rate across 1,010 avg findings in 2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0" i="0" lang="en-US" sz="11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7s</a:t>
            </a:r>
            <a:endParaRPr/>
          </a:p>
        </p:txBody>
      </p:sp>
      <p:sp>
        <p:nvSpPr>
          <p:cNvPr id="438" name="Google Shape;438;p11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685800" y="420687"/>
            <a:ext cx="7772400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Speedup, Confidence &amp; Test Coverage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639762" y="1074737"/>
            <a:ext cx="411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SPEEDUP vs MANUAL ANALYST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639762" y="1371600"/>
            <a:ext cx="4114800" cy="384175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731837" y="1495425"/>
            <a:ext cx="13716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 EDGAR review</a:t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2103437" y="1495425"/>
            <a:ext cx="9144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~30 min</a:t>
            </a:r>
            <a:endParaRPr/>
          </a:p>
        </p:txBody>
      </p:sp>
      <p:sp>
        <p:nvSpPr>
          <p:cNvPr id="450" name="Google Shape;450;p12"/>
          <p:cNvSpPr txBox="1"/>
          <p:nvPr/>
        </p:nvSpPr>
        <p:spPr>
          <a:xfrm>
            <a:off x="3017837" y="1495425"/>
            <a:ext cx="822325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&lt; 9s</a:t>
            </a:r>
            <a:endParaRPr/>
          </a:p>
        </p:txBody>
      </p:sp>
      <p:sp>
        <p:nvSpPr>
          <p:cNvPr id="451" name="Google Shape;451;p12"/>
          <p:cNvSpPr txBox="1"/>
          <p:nvPr/>
        </p:nvSpPr>
        <p:spPr>
          <a:xfrm>
            <a:off x="3840162" y="1474787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 Black"/>
              <a:buNone/>
            </a:pPr>
            <a:r>
              <a:rPr b="0" i="0" lang="en-US" sz="10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~200×</a:t>
            </a:r>
            <a:endParaRPr/>
          </a:p>
        </p:txBody>
      </p:sp>
      <p:sp>
        <p:nvSpPr>
          <p:cNvPr id="452" name="Google Shape;452;p12"/>
          <p:cNvSpPr txBox="1"/>
          <p:nvPr/>
        </p:nvSpPr>
        <p:spPr>
          <a:xfrm>
            <a:off x="639762" y="1782762"/>
            <a:ext cx="4114800" cy="38417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731837" y="1906587"/>
            <a:ext cx="13716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OFAC screening</a:t>
            </a:r>
            <a:endParaRPr/>
          </a:p>
        </p:txBody>
      </p:sp>
      <p:sp>
        <p:nvSpPr>
          <p:cNvPr id="454" name="Google Shape;454;p12"/>
          <p:cNvSpPr txBox="1"/>
          <p:nvPr/>
        </p:nvSpPr>
        <p:spPr>
          <a:xfrm>
            <a:off x="2103437" y="1906587"/>
            <a:ext cx="9144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~20 min</a:t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3017837" y="1906587"/>
            <a:ext cx="822325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&lt; 3s</a:t>
            </a:r>
            <a:endParaRPr/>
          </a:p>
        </p:txBody>
      </p:sp>
      <p:sp>
        <p:nvSpPr>
          <p:cNvPr id="456" name="Google Shape;456;p12"/>
          <p:cNvSpPr txBox="1"/>
          <p:nvPr/>
        </p:nvSpPr>
        <p:spPr>
          <a:xfrm>
            <a:off x="3840162" y="188595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 Black"/>
              <a:buNone/>
            </a:pPr>
            <a:r>
              <a:rPr b="0" i="0" lang="en-US" sz="10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~400×</a:t>
            </a:r>
            <a:endParaRPr/>
          </a:p>
        </p:txBody>
      </p:sp>
      <p:sp>
        <p:nvSpPr>
          <p:cNvPr id="457" name="Google Shape;457;p12"/>
          <p:cNvSpPr txBox="1"/>
          <p:nvPr/>
        </p:nvSpPr>
        <p:spPr>
          <a:xfrm>
            <a:off x="639762" y="2193925"/>
            <a:ext cx="4114800" cy="384175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 txBox="1"/>
          <p:nvPr/>
        </p:nvSpPr>
        <p:spPr>
          <a:xfrm>
            <a:off x="731837" y="2317750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Court records</a:t>
            </a:r>
            <a:endParaRPr/>
          </a:p>
        </p:txBody>
      </p:sp>
      <p:sp>
        <p:nvSpPr>
          <p:cNvPr id="459" name="Google Shape;459;p12"/>
          <p:cNvSpPr txBox="1"/>
          <p:nvPr/>
        </p:nvSpPr>
        <p:spPr>
          <a:xfrm>
            <a:off x="2103437" y="2317750"/>
            <a:ext cx="9144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~30 min</a:t>
            </a:r>
            <a:endParaRPr/>
          </a:p>
        </p:txBody>
      </p:sp>
      <p:sp>
        <p:nvSpPr>
          <p:cNvPr id="460" name="Google Shape;460;p12"/>
          <p:cNvSpPr txBox="1"/>
          <p:nvPr/>
        </p:nvSpPr>
        <p:spPr>
          <a:xfrm>
            <a:off x="3017837" y="2317750"/>
            <a:ext cx="822325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&lt; 3s</a:t>
            </a:r>
            <a:endParaRPr/>
          </a:p>
        </p:txBody>
      </p:sp>
      <p:sp>
        <p:nvSpPr>
          <p:cNvPr id="461" name="Google Shape;461;p12"/>
          <p:cNvSpPr txBox="1"/>
          <p:nvPr/>
        </p:nvSpPr>
        <p:spPr>
          <a:xfrm>
            <a:off x="3840162" y="2297112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 Black"/>
              <a:buNone/>
            </a:pPr>
            <a:r>
              <a:rPr b="0" i="0" lang="en-US" sz="10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~600×</a:t>
            </a:r>
            <a:endParaRPr/>
          </a:p>
        </p:txBody>
      </p:sp>
      <p:sp>
        <p:nvSpPr>
          <p:cNvPr id="462" name="Google Shape;462;p12"/>
          <p:cNvSpPr txBox="1"/>
          <p:nvPr/>
        </p:nvSpPr>
        <p:spPr>
          <a:xfrm>
            <a:off x="639762" y="2606675"/>
            <a:ext cx="4114800" cy="38417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731837" y="2728912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Adverse media</a:t>
            </a:r>
            <a:endParaRPr/>
          </a:p>
        </p:txBody>
      </p:sp>
      <p:sp>
        <p:nvSpPr>
          <p:cNvPr id="464" name="Google Shape;464;p12"/>
          <p:cNvSpPr txBox="1"/>
          <p:nvPr/>
        </p:nvSpPr>
        <p:spPr>
          <a:xfrm>
            <a:off x="2103437" y="2728912"/>
            <a:ext cx="9144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~45 min</a:t>
            </a:r>
            <a:endParaRPr/>
          </a:p>
        </p:txBody>
      </p:sp>
      <p:sp>
        <p:nvSpPr>
          <p:cNvPr id="465" name="Google Shape;465;p12"/>
          <p:cNvSpPr txBox="1"/>
          <p:nvPr/>
        </p:nvSpPr>
        <p:spPr>
          <a:xfrm>
            <a:off x="3017837" y="2728912"/>
            <a:ext cx="822325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&lt; 7s</a:t>
            </a:r>
            <a:endParaRPr/>
          </a:p>
        </p:txBody>
      </p:sp>
      <p:sp>
        <p:nvSpPr>
          <p:cNvPr id="466" name="Google Shape;466;p12"/>
          <p:cNvSpPr txBox="1"/>
          <p:nvPr/>
        </p:nvSpPr>
        <p:spPr>
          <a:xfrm>
            <a:off x="3840162" y="2709862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 Black"/>
              <a:buNone/>
            </a:pPr>
            <a:r>
              <a:rPr b="0" i="0" lang="en-US" sz="10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~385×</a:t>
            </a:r>
            <a:endParaRPr/>
          </a:p>
        </p:txBody>
      </p:sp>
      <p:sp>
        <p:nvSpPr>
          <p:cNvPr id="467" name="Google Shape;467;p12"/>
          <p:cNvSpPr txBox="1"/>
          <p:nvPr/>
        </p:nvSpPr>
        <p:spPr>
          <a:xfrm>
            <a:off x="639762" y="3017837"/>
            <a:ext cx="4114800" cy="384175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731837" y="3141662"/>
            <a:ext cx="13716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469" name="Google Shape;469;p12"/>
          <p:cNvSpPr txBox="1"/>
          <p:nvPr/>
        </p:nvSpPr>
        <p:spPr>
          <a:xfrm>
            <a:off x="2103437" y="3141662"/>
            <a:ext cx="9144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~2.5 hrs</a:t>
            </a:r>
            <a:endParaRPr/>
          </a:p>
        </p:txBody>
      </p:sp>
      <p:sp>
        <p:nvSpPr>
          <p:cNvPr id="470" name="Google Shape;470;p12"/>
          <p:cNvSpPr txBox="1"/>
          <p:nvPr/>
        </p:nvSpPr>
        <p:spPr>
          <a:xfrm>
            <a:off x="3017837" y="3141662"/>
            <a:ext cx="822325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22s</a:t>
            </a:r>
            <a:endParaRPr/>
          </a:p>
        </p:txBody>
      </p:sp>
      <p:sp>
        <p:nvSpPr>
          <p:cNvPr id="471" name="Google Shape;471;p12"/>
          <p:cNvSpPr txBox="1"/>
          <p:nvPr/>
        </p:nvSpPr>
        <p:spPr>
          <a:xfrm>
            <a:off x="3840162" y="3121025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 Black"/>
              <a:buNone/>
            </a:pPr>
            <a:r>
              <a:rPr b="0" i="0" lang="en-US" sz="10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~400×</a:t>
            </a:r>
            <a:endParaRPr/>
          </a:p>
        </p:txBody>
      </p:sp>
      <p:sp>
        <p:nvSpPr>
          <p:cNvPr id="472" name="Google Shape;472;p12"/>
          <p:cNvSpPr txBox="1"/>
          <p:nvPr/>
        </p:nvSpPr>
        <p:spPr>
          <a:xfrm>
            <a:off x="5029200" y="1074737"/>
            <a:ext cx="3840162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CONFIDENCE SCORING</a:t>
            </a:r>
            <a:endParaRPr/>
          </a:p>
        </p:txBody>
      </p:sp>
      <p:sp>
        <p:nvSpPr>
          <p:cNvPr id="473" name="Google Shape;473;p12"/>
          <p:cNvSpPr txBox="1"/>
          <p:nvPr/>
        </p:nvSpPr>
        <p:spPr>
          <a:xfrm>
            <a:off x="5029200" y="1468437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 8-K</a:t>
            </a:r>
            <a:endParaRPr/>
          </a:p>
        </p:txBody>
      </p:sp>
      <p:sp>
        <p:nvSpPr>
          <p:cNvPr id="474" name="Google Shape;474;p12"/>
          <p:cNvSpPr txBox="1"/>
          <p:nvPr/>
        </p:nvSpPr>
        <p:spPr>
          <a:xfrm>
            <a:off x="6858000" y="1444625"/>
            <a:ext cx="1463675" cy="1825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6858000" y="1444625"/>
            <a:ext cx="1390650" cy="18256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8366125" y="1462087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0.95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5029200" y="1806575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 10-K/10-Q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6858000" y="1782762"/>
            <a:ext cx="1463675" cy="1825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6858000" y="1782762"/>
            <a:ext cx="1243012" cy="18256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8366125" y="1800225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0.85</a:t>
            </a:r>
            <a:endParaRPr/>
          </a:p>
        </p:txBody>
      </p:sp>
      <p:sp>
        <p:nvSpPr>
          <p:cNvPr id="481" name="Google Shape;481;p12"/>
          <p:cNvSpPr txBox="1"/>
          <p:nvPr/>
        </p:nvSpPr>
        <p:spPr>
          <a:xfrm>
            <a:off x="5029200" y="2144712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 DEF 14A</a:t>
            </a:r>
            <a:endParaRPr/>
          </a:p>
        </p:txBody>
      </p:sp>
      <p:sp>
        <p:nvSpPr>
          <p:cNvPr id="482" name="Google Shape;482;p12"/>
          <p:cNvSpPr txBox="1"/>
          <p:nvPr/>
        </p:nvSpPr>
        <p:spPr>
          <a:xfrm>
            <a:off x="6858000" y="2120900"/>
            <a:ext cx="1463675" cy="18415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6858000" y="2120900"/>
            <a:ext cx="1169987" cy="1841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 txBox="1"/>
          <p:nvPr/>
        </p:nvSpPr>
        <p:spPr>
          <a:xfrm>
            <a:off x="8366125" y="2138362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0.80</a:t>
            </a:r>
            <a:endParaRPr/>
          </a:p>
        </p:txBody>
      </p:sp>
      <p:sp>
        <p:nvSpPr>
          <p:cNvPr id="485" name="Google Shape;485;p12"/>
          <p:cNvSpPr txBox="1"/>
          <p:nvPr/>
        </p:nvSpPr>
        <p:spPr>
          <a:xfrm>
            <a:off x="5029200" y="2482850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 Form 4</a:t>
            </a:r>
            <a:endParaRPr/>
          </a:p>
        </p:txBody>
      </p:sp>
      <p:sp>
        <p:nvSpPr>
          <p:cNvPr id="486" name="Google Shape;486;p12"/>
          <p:cNvSpPr txBox="1"/>
          <p:nvPr/>
        </p:nvSpPr>
        <p:spPr>
          <a:xfrm>
            <a:off x="6858000" y="2459037"/>
            <a:ext cx="1463675" cy="18415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 txBox="1"/>
          <p:nvPr/>
        </p:nvSpPr>
        <p:spPr>
          <a:xfrm>
            <a:off x="6858000" y="2459037"/>
            <a:ext cx="1096962" cy="1841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 txBox="1"/>
          <p:nvPr/>
        </p:nvSpPr>
        <p:spPr>
          <a:xfrm>
            <a:off x="8366125" y="24765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0.75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5029200" y="2820987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OFAC SDN</a:t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6858000" y="2798762"/>
            <a:ext cx="1463675" cy="1825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 txBox="1"/>
          <p:nvPr/>
        </p:nvSpPr>
        <p:spPr>
          <a:xfrm>
            <a:off x="6858000" y="2798762"/>
            <a:ext cx="1316037" cy="18256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8366125" y="2814637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0.90</a:t>
            </a:r>
            <a:endParaRPr/>
          </a:p>
        </p:txBody>
      </p:sp>
      <p:sp>
        <p:nvSpPr>
          <p:cNvPr id="493" name="Google Shape;493;p12"/>
          <p:cNvSpPr txBox="1"/>
          <p:nvPr/>
        </p:nvSpPr>
        <p:spPr>
          <a:xfrm>
            <a:off x="5029200" y="3159125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CourtListener</a:t>
            </a:r>
            <a:endParaRPr/>
          </a:p>
        </p:txBody>
      </p:sp>
      <p:sp>
        <p:nvSpPr>
          <p:cNvPr id="494" name="Google Shape;494;p12"/>
          <p:cNvSpPr txBox="1"/>
          <p:nvPr/>
        </p:nvSpPr>
        <p:spPr>
          <a:xfrm>
            <a:off x="6858000" y="3136900"/>
            <a:ext cx="1463675" cy="1825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 txBox="1"/>
          <p:nvPr/>
        </p:nvSpPr>
        <p:spPr>
          <a:xfrm>
            <a:off x="6858000" y="3136900"/>
            <a:ext cx="1243012" cy="18256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 txBox="1"/>
          <p:nvPr/>
        </p:nvSpPr>
        <p:spPr>
          <a:xfrm>
            <a:off x="8366125" y="3152775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0.85</a:t>
            </a:r>
            <a:endParaRPr/>
          </a:p>
        </p:txBody>
      </p:sp>
      <p:sp>
        <p:nvSpPr>
          <p:cNvPr id="497" name="Google Shape;497;p12"/>
          <p:cNvSpPr txBox="1"/>
          <p:nvPr/>
        </p:nvSpPr>
        <p:spPr>
          <a:xfrm>
            <a:off x="5029200" y="3498850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GDELT (high)</a:t>
            </a:r>
            <a:endParaRPr/>
          </a:p>
        </p:txBody>
      </p:sp>
      <p:sp>
        <p:nvSpPr>
          <p:cNvPr id="498" name="Google Shape;498;p12"/>
          <p:cNvSpPr txBox="1"/>
          <p:nvPr/>
        </p:nvSpPr>
        <p:spPr>
          <a:xfrm>
            <a:off x="6858000" y="3475037"/>
            <a:ext cx="1463675" cy="1825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 txBox="1"/>
          <p:nvPr/>
        </p:nvSpPr>
        <p:spPr>
          <a:xfrm>
            <a:off x="6858000" y="3475037"/>
            <a:ext cx="1096962" cy="182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 txBox="1"/>
          <p:nvPr/>
        </p:nvSpPr>
        <p:spPr>
          <a:xfrm>
            <a:off x="8366125" y="34925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0.75</a:t>
            </a:r>
            <a:endParaRPr/>
          </a:p>
        </p:txBody>
      </p:sp>
      <p:sp>
        <p:nvSpPr>
          <p:cNvPr id="501" name="Google Shape;501;p12"/>
          <p:cNvSpPr txBox="1"/>
          <p:nvPr/>
        </p:nvSpPr>
        <p:spPr>
          <a:xfrm>
            <a:off x="5029200" y="3836987"/>
            <a:ext cx="1828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GDELT (low)</a:t>
            </a:r>
            <a:endParaRPr/>
          </a:p>
        </p:txBody>
      </p:sp>
      <p:sp>
        <p:nvSpPr>
          <p:cNvPr id="502" name="Google Shape;502;p12"/>
          <p:cNvSpPr txBox="1"/>
          <p:nvPr/>
        </p:nvSpPr>
        <p:spPr>
          <a:xfrm>
            <a:off x="6858000" y="3813175"/>
            <a:ext cx="1463675" cy="1825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 txBox="1"/>
          <p:nvPr/>
        </p:nvSpPr>
        <p:spPr>
          <a:xfrm>
            <a:off x="6858000" y="3813175"/>
            <a:ext cx="438150" cy="18256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8366125" y="3830637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0" i="0" lang="en-US" sz="900" u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0.30</a:t>
            </a:r>
            <a:endParaRPr/>
          </a:p>
        </p:txBody>
      </p:sp>
      <p:sp>
        <p:nvSpPr>
          <p:cNvPr id="505" name="Google Shape;505;p12"/>
          <p:cNvSpPr txBox="1"/>
          <p:nvPr/>
        </p:nvSpPr>
        <p:spPr>
          <a:xfrm>
            <a:off x="639750" y="3822625"/>
            <a:ext cx="4114800" cy="6399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 txBox="1"/>
          <p:nvPr/>
        </p:nvSpPr>
        <p:spPr>
          <a:xfrm>
            <a:off x="731837" y="4022725"/>
            <a:ext cx="1371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TEST COVERAGE</a:t>
            </a:r>
            <a:endParaRPr/>
          </a:p>
        </p:txBody>
      </p:sp>
      <p:sp>
        <p:nvSpPr>
          <p:cNvPr id="507" name="Google Shape;507;p12"/>
          <p:cNvSpPr txBox="1"/>
          <p:nvPr/>
        </p:nvSpPr>
        <p:spPr>
          <a:xfrm>
            <a:off x="2103437" y="3906837"/>
            <a:ext cx="62182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219</a:t>
            </a:r>
            <a:r>
              <a:rPr b="0" i="0" lang="en-US" sz="12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unit tests  </a:t>
            </a:r>
            <a:r>
              <a:rPr b="0" i="0" lang="en-US" sz="12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across all 8 layers</a:t>
            </a:r>
            <a:endParaRPr/>
          </a:p>
        </p:txBody>
      </p:sp>
      <p:sp>
        <p:nvSpPr>
          <p:cNvPr id="508" name="Google Shape;508;p12"/>
          <p:cNvSpPr txBox="1"/>
          <p:nvPr/>
        </p:nvSpPr>
        <p:spPr>
          <a:xfrm>
            <a:off x="639762" y="4572000"/>
            <a:ext cx="1920875" cy="4111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509" name="Google Shape;5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837" y="4627562"/>
            <a:ext cx="274637" cy="2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2"/>
          <p:cNvSpPr txBox="1"/>
          <p:nvPr/>
        </p:nvSpPr>
        <p:spPr>
          <a:xfrm>
            <a:off x="1050925" y="47085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97-98% citation</a:t>
            </a:r>
            <a:endParaRPr/>
          </a:p>
        </p:txBody>
      </p:sp>
      <p:sp>
        <p:nvSpPr>
          <p:cNvPr id="511" name="Google Shape;511;p12"/>
          <p:cNvSpPr txBox="1"/>
          <p:nvPr/>
        </p:nvSpPr>
        <p:spPr>
          <a:xfrm>
            <a:off x="2789237" y="4572000"/>
            <a:ext cx="1919287" cy="4111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512" name="Google Shape;5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9725" y="4627562"/>
            <a:ext cx="274637" cy="2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2"/>
          <p:cNvSpPr txBox="1"/>
          <p:nvPr/>
        </p:nvSpPr>
        <p:spPr>
          <a:xfrm>
            <a:off x="3200400" y="47085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4/4 sources</a:t>
            </a:r>
            <a:endParaRPr/>
          </a:p>
        </p:txBody>
      </p:sp>
      <p:sp>
        <p:nvSpPr>
          <p:cNvPr id="514" name="Google Shape;514;p12"/>
          <p:cNvSpPr txBox="1"/>
          <p:nvPr/>
        </p:nvSpPr>
        <p:spPr>
          <a:xfrm>
            <a:off x="4937125" y="4572000"/>
            <a:ext cx="1920875" cy="4111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515" name="Google Shape;5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4627562"/>
            <a:ext cx="274637" cy="2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2"/>
          <p:cNvSpPr txBox="1"/>
          <p:nvPr/>
        </p:nvSpPr>
        <p:spPr>
          <a:xfrm>
            <a:off x="5349875" y="47085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400× speedup</a:t>
            </a:r>
            <a:endParaRPr/>
          </a:p>
        </p:txBody>
      </p:sp>
      <p:sp>
        <p:nvSpPr>
          <p:cNvPr id="517" name="Google Shape;517;p12"/>
          <p:cNvSpPr txBox="1"/>
          <p:nvPr/>
        </p:nvSpPr>
        <p:spPr>
          <a:xfrm>
            <a:off x="7086600" y="4572000"/>
            <a:ext cx="1920875" cy="41116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518" name="Google Shape;51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675" y="4627562"/>
            <a:ext cx="273050" cy="2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2"/>
          <p:cNvSpPr txBox="1"/>
          <p:nvPr/>
        </p:nvSpPr>
        <p:spPr>
          <a:xfrm>
            <a:off x="7497762" y="4708525"/>
            <a:ext cx="1371600" cy="13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219 tests</a:t>
            </a:r>
            <a:endParaRPr/>
          </a:p>
        </p:txBody>
      </p:sp>
      <p:sp>
        <p:nvSpPr>
          <p:cNvPr id="520" name="Google Shape;520;p12"/>
          <p:cNvSpPr txBox="1"/>
          <p:nvPr/>
        </p:nvSpPr>
        <p:spPr>
          <a:xfrm>
            <a:off x="8275637" y="4732337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3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EVALUATION FRAMEWORK</a:t>
            </a:r>
            <a:endParaRPr/>
          </a:p>
        </p:txBody>
      </p:sp>
      <p:sp>
        <p:nvSpPr>
          <p:cNvPr id="527" name="Google Shape;527;p13"/>
          <p:cNvSpPr txBox="1"/>
          <p:nvPr/>
        </p:nvSpPr>
        <p:spPr>
          <a:xfrm>
            <a:off x="685800" y="420687"/>
            <a:ext cx="7223125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Five criteria. All met.</a:t>
            </a:r>
            <a:endParaRPr/>
          </a:p>
        </p:txBody>
      </p:sp>
      <p:sp>
        <p:nvSpPr>
          <p:cNvPr id="528" name="Google Shape;528;p13"/>
          <p:cNvSpPr txBox="1"/>
          <p:nvPr/>
        </p:nvSpPr>
        <p:spPr>
          <a:xfrm>
            <a:off x="639762" y="1050925"/>
            <a:ext cx="7864475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 txBox="1"/>
          <p:nvPr/>
        </p:nvSpPr>
        <p:spPr>
          <a:xfrm>
            <a:off x="639762" y="1050925"/>
            <a:ext cx="5556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530" name="Google Shape;5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" y="1189037"/>
            <a:ext cx="365125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3"/>
          <p:cNvSpPr txBox="1"/>
          <p:nvPr/>
        </p:nvSpPr>
        <p:spPr>
          <a:xfrm>
            <a:off x="1235075" y="1146175"/>
            <a:ext cx="22860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Correctness &amp; Depth</a:t>
            </a:r>
            <a:endParaRPr/>
          </a:p>
        </p:txBody>
      </p:sp>
      <p:sp>
        <p:nvSpPr>
          <p:cNvPr id="532" name="Google Shape;532;p13"/>
          <p:cNvSpPr txBox="1"/>
          <p:nvPr/>
        </p:nvSpPr>
        <p:spPr>
          <a:xfrm>
            <a:off x="1235075" y="1463675"/>
            <a:ext cx="3200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Citation rate, findings count, source coverage</a:t>
            </a:r>
            <a:endParaRPr/>
          </a:p>
        </p:txBody>
      </p:sp>
      <p:sp>
        <p:nvSpPr>
          <p:cNvPr id="533" name="Google Shape;533;p13"/>
          <p:cNvSpPr txBox="1"/>
          <p:nvPr/>
        </p:nvSpPr>
        <p:spPr>
          <a:xfrm>
            <a:off x="4572000" y="1327150"/>
            <a:ext cx="3840162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97-98% citation, 598-1,125 findings/entity</a:t>
            </a:r>
            <a:endParaRPr/>
          </a:p>
        </p:txBody>
      </p:sp>
      <p:sp>
        <p:nvSpPr>
          <p:cNvPr id="534" name="Google Shape;534;p13"/>
          <p:cNvSpPr txBox="1"/>
          <p:nvPr/>
        </p:nvSpPr>
        <p:spPr>
          <a:xfrm>
            <a:off x="639762" y="1828800"/>
            <a:ext cx="7864475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 txBox="1"/>
          <p:nvPr/>
        </p:nvSpPr>
        <p:spPr>
          <a:xfrm>
            <a:off x="639762" y="1828800"/>
            <a:ext cx="5556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536" name="Google Shape;5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" y="1965325"/>
            <a:ext cx="365125" cy="36671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3"/>
          <p:cNvSpPr txBox="1"/>
          <p:nvPr/>
        </p:nvSpPr>
        <p:spPr>
          <a:xfrm>
            <a:off x="1235075" y="1924050"/>
            <a:ext cx="22860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Cross-Agent Verification</a:t>
            </a:r>
            <a:endParaRPr/>
          </a:p>
        </p:txBody>
      </p:sp>
      <p:sp>
        <p:nvSpPr>
          <p:cNvPr id="538" name="Google Shape;538;p13"/>
          <p:cNvSpPr txBox="1"/>
          <p:nvPr/>
        </p:nvSpPr>
        <p:spPr>
          <a:xfrm>
            <a:off x="1235075" y="2241550"/>
            <a:ext cx="3200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Reflexion: cross-check, gap detection, tiered confidence</a:t>
            </a:r>
            <a:endParaRPr/>
          </a:p>
        </p:txBody>
      </p:sp>
      <p:sp>
        <p:nvSpPr>
          <p:cNvPr id="539" name="Google Shape;539;p13"/>
          <p:cNvSpPr txBox="1"/>
          <p:nvPr/>
        </p:nvSpPr>
        <p:spPr>
          <a:xfrm>
            <a:off x="4572000" y="2105025"/>
            <a:ext cx="38401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Implemented across all 3 specialist agents</a:t>
            </a:r>
            <a:endParaRPr/>
          </a:p>
        </p:txBody>
      </p:sp>
      <p:sp>
        <p:nvSpPr>
          <p:cNvPr id="540" name="Google Shape;540;p13"/>
          <p:cNvSpPr txBox="1"/>
          <p:nvPr/>
        </p:nvSpPr>
        <p:spPr>
          <a:xfrm>
            <a:off x="639762" y="2606675"/>
            <a:ext cx="7864475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 txBox="1"/>
          <p:nvPr/>
        </p:nvSpPr>
        <p:spPr>
          <a:xfrm>
            <a:off x="639762" y="2606675"/>
            <a:ext cx="5556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542" name="Google Shape;5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" y="2743200"/>
            <a:ext cx="365125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3"/>
          <p:cNvSpPr txBox="1"/>
          <p:nvPr/>
        </p:nvSpPr>
        <p:spPr>
          <a:xfrm>
            <a:off x="1235075" y="2700337"/>
            <a:ext cx="22860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 Generality</a:t>
            </a:r>
            <a:endParaRPr/>
          </a:p>
        </p:txBody>
      </p:sp>
      <p:sp>
        <p:nvSpPr>
          <p:cNvPr id="544" name="Google Shape;544;p13"/>
          <p:cNvSpPr txBox="1"/>
          <p:nvPr/>
        </p:nvSpPr>
        <p:spPr>
          <a:xfrm>
            <a:off x="1235075" y="3017837"/>
            <a:ext cx="3200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on 5 entities across 3 industries</a:t>
            </a:r>
            <a:endParaRPr/>
          </a:p>
        </p:txBody>
      </p:sp>
      <p:sp>
        <p:nvSpPr>
          <p:cNvPr id="545" name="Google Shape;545;p13"/>
          <p:cNvSpPr txBox="1"/>
          <p:nvPr/>
        </p:nvSpPr>
        <p:spPr>
          <a:xfrm>
            <a:off x="4572000" y="2881312"/>
            <a:ext cx="3840162" cy="134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Auto-resolution handles any public company</a:t>
            </a:r>
            <a:endParaRPr/>
          </a:p>
        </p:txBody>
      </p:sp>
      <p:sp>
        <p:nvSpPr>
          <p:cNvPr id="546" name="Google Shape;546;p13"/>
          <p:cNvSpPr txBox="1"/>
          <p:nvPr/>
        </p:nvSpPr>
        <p:spPr>
          <a:xfrm>
            <a:off x="639762" y="3382962"/>
            <a:ext cx="7864475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 txBox="1"/>
          <p:nvPr/>
        </p:nvSpPr>
        <p:spPr>
          <a:xfrm>
            <a:off x="639762" y="3382962"/>
            <a:ext cx="5556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548" name="Google Shape;5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" y="3521075"/>
            <a:ext cx="365125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3"/>
          <p:cNvSpPr txBox="1"/>
          <p:nvPr/>
        </p:nvSpPr>
        <p:spPr>
          <a:xfrm>
            <a:off x="1235075" y="3478212"/>
            <a:ext cx="22860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 Quality</a:t>
            </a:r>
            <a:endParaRPr/>
          </a:p>
        </p:txBody>
      </p:sp>
      <p:sp>
        <p:nvSpPr>
          <p:cNvPr id="550" name="Google Shape;550;p13"/>
          <p:cNvSpPr txBox="1"/>
          <p:nvPr/>
        </p:nvSpPr>
        <p:spPr>
          <a:xfrm>
            <a:off x="1235075" y="3795712"/>
            <a:ext cx="3200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suite, deployment, runbook</a:t>
            </a:r>
            <a:endParaRPr/>
          </a:p>
        </p:txBody>
      </p:sp>
      <p:sp>
        <p:nvSpPr>
          <p:cNvPr id="551" name="Google Shape;551;p13"/>
          <p:cNvSpPr txBox="1"/>
          <p:nvPr/>
        </p:nvSpPr>
        <p:spPr>
          <a:xfrm>
            <a:off x="4572000" y="3659187"/>
            <a:ext cx="38401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219 unit tests, Render deployment, full runbook</a:t>
            </a:r>
            <a:endParaRPr/>
          </a:p>
        </p:txBody>
      </p:sp>
      <p:sp>
        <p:nvSpPr>
          <p:cNvPr id="552" name="Google Shape;552;p13"/>
          <p:cNvSpPr txBox="1"/>
          <p:nvPr/>
        </p:nvSpPr>
        <p:spPr>
          <a:xfrm>
            <a:off x="639762" y="4160837"/>
            <a:ext cx="7864475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 txBox="1"/>
          <p:nvPr/>
        </p:nvSpPr>
        <p:spPr>
          <a:xfrm>
            <a:off x="639762" y="4160837"/>
            <a:ext cx="5556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4" id="554" name="Google Shape;5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" y="4297362"/>
            <a:ext cx="365125" cy="36671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3"/>
          <p:cNvSpPr txBox="1"/>
          <p:nvPr/>
        </p:nvSpPr>
        <p:spPr>
          <a:xfrm>
            <a:off x="1235075" y="4256087"/>
            <a:ext cx="2286000" cy="166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Investigation Speed</a:t>
            </a:r>
            <a:endParaRPr/>
          </a:p>
        </p:txBody>
      </p:sp>
      <p:sp>
        <p:nvSpPr>
          <p:cNvPr id="556" name="Google Shape;556;p13"/>
          <p:cNvSpPr txBox="1"/>
          <p:nvPr/>
        </p:nvSpPr>
        <p:spPr>
          <a:xfrm>
            <a:off x="1235075" y="4572000"/>
            <a:ext cx="32004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Speedup benchmark vs manual analyst</a:t>
            </a:r>
            <a:endParaRPr/>
          </a:p>
        </p:txBody>
      </p:sp>
      <p:sp>
        <p:nvSpPr>
          <p:cNvPr id="557" name="Google Shape;557;p13"/>
          <p:cNvSpPr txBox="1"/>
          <p:nvPr/>
        </p:nvSpPr>
        <p:spPr>
          <a:xfrm>
            <a:off x="4572000" y="4437062"/>
            <a:ext cx="384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r>
              <a:rPr b="1" i="0" lang="en-US" sz="1100" u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x faster than manual analyst</a:t>
            </a:r>
            <a:endParaRPr/>
          </a:p>
        </p:txBody>
      </p:sp>
      <p:sp>
        <p:nvSpPr>
          <p:cNvPr id="558" name="Google Shape;558;p13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4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DESIGN DECISIONS</a:t>
            </a:r>
            <a:endParaRPr/>
          </a:p>
        </p:txBody>
      </p:sp>
      <p:sp>
        <p:nvSpPr>
          <p:cNvPr id="565" name="Google Shape;565;p14"/>
          <p:cNvSpPr txBox="1"/>
          <p:nvPr/>
        </p:nvSpPr>
        <p:spPr>
          <a:xfrm>
            <a:off x="685800" y="420687"/>
            <a:ext cx="7223125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Six decisions that shape the system.</a:t>
            </a:r>
            <a:endParaRPr/>
          </a:p>
        </p:txBody>
      </p:sp>
      <p:sp>
        <p:nvSpPr>
          <p:cNvPr id="566" name="Google Shape;566;p14"/>
          <p:cNvSpPr txBox="1"/>
          <p:nvPr/>
        </p:nvSpPr>
        <p:spPr>
          <a:xfrm>
            <a:off x="457200" y="1006475"/>
            <a:ext cx="4114800" cy="109696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593725" y="11430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 txBox="1"/>
          <p:nvPr/>
        </p:nvSpPr>
        <p:spPr>
          <a:xfrm>
            <a:off x="593725" y="128587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69" name="Google Shape;569;p14"/>
          <p:cNvSpPr txBox="1"/>
          <p:nvPr/>
        </p:nvSpPr>
        <p:spPr>
          <a:xfrm>
            <a:off x="1143000" y="1201737"/>
            <a:ext cx="32004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orchestration + deterministic evidence</a:t>
            </a:r>
            <a:endParaRPr/>
          </a:p>
        </p:txBody>
      </p:sp>
      <p:sp>
        <p:nvSpPr>
          <p:cNvPr id="570" name="Google Shape;570;p14"/>
          <p:cNvSpPr txBox="1"/>
          <p:nvPr/>
        </p:nvSpPr>
        <p:spPr>
          <a:xfrm>
            <a:off x="1143000" y="1585912"/>
            <a:ext cx="3200400" cy="30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LLM drives planning, policy, and narrative. Evidence stays source-grounded — 97-98% citation rate.</a:t>
            </a:r>
            <a:endParaRPr/>
          </a:p>
        </p:txBody>
      </p:sp>
      <p:sp>
        <p:nvSpPr>
          <p:cNvPr id="571" name="Google Shape;571;p14"/>
          <p:cNvSpPr txBox="1"/>
          <p:nvPr/>
        </p:nvSpPr>
        <p:spPr>
          <a:xfrm>
            <a:off x="4846637" y="1006475"/>
            <a:ext cx="4114800" cy="109696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4983162" y="11430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 txBox="1"/>
          <p:nvPr/>
        </p:nvSpPr>
        <p:spPr>
          <a:xfrm>
            <a:off x="4983162" y="128587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74" name="Google Shape;574;p14"/>
          <p:cNvSpPr txBox="1"/>
          <p:nvPr/>
        </p:nvSpPr>
        <p:spPr>
          <a:xfrm>
            <a:off x="5532437" y="1201737"/>
            <a:ext cx="32004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Cache-first data access</a:t>
            </a:r>
            <a:endParaRPr/>
          </a:p>
        </p:txBody>
      </p:sp>
      <p:sp>
        <p:nvSpPr>
          <p:cNvPr id="575" name="Google Shape;575;p14"/>
          <p:cNvSpPr txBox="1"/>
          <p:nvPr/>
        </p:nvSpPr>
        <p:spPr>
          <a:xfrm>
            <a:off x="5532437" y="1585912"/>
            <a:ext cx="3200400" cy="30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All raw data committed to repo. Investigations replay instantly with zero runtime API dependencies.</a:t>
            </a:r>
            <a:endParaRPr/>
          </a:p>
        </p:txBody>
      </p:sp>
      <p:sp>
        <p:nvSpPr>
          <p:cNvPr id="576" name="Google Shape;576;p14"/>
          <p:cNvSpPr txBox="1"/>
          <p:nvPr/>
        </p:nvSpPr>
        <p:spPr>
          <a:xfrm>
            <a:off x="457200" y="2239962"/>
            <a:ext cx="4114800" cy="109696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593725" y="2378075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 txBox="1"/>
          <p:nvPr/>
        </p:nvSpPr>
        <p:spPr>
          <a:xfrm>
            <a:off x="593725" y="2519362"/>
            <a:ext cx="457200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79" name="Google Shape;579;p14"/>
          <p:cNvSpPr txBox="1"/>
          <p:nvPr/>
        </p:nvSpPr>
        <p:spPr>
          <a:xfrm>
            <a:off x="1143000" y="2436812"/>
            <a:ext cx="3200400" cy="15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 dataclasses</a:t>
            </a:r>
            <a:endParaRPr/>
          </a:p>
        </p:txBody>
      </p:sp>
      <p:sp>
        <p:nvSpPr>
          <p:cNvPr id="580" name="Google Shape;580;p14"/>
          <p:cNvSpPr txBox="1"/>
          <p:nvPr/>
        </p:nvSpPr>
        <p:spPr>
          <a:xfrm>
            <a:off x="1143000" y="2820987"/>
            <a:ext cx="32004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Entity and Evidence are immutable. Agents can't accidentally mutate each other's findings.</a:t>
            </a:r>
            <a:endParaRPr/>
          </a:p>
        </p:txBody>
      </p:sp>
      <p:sp>
        <p:nvSpPr>
          <p:cNvPr id="581" name="Google Shape;581;p14"/>
          <p:cNvSpPr txBox="1"/>
          <p:nvPr/>
        </p:nvSpPr>
        <p:spPr>
          <a:xfrm>
            <a:off x="4846637" y="2239962"/>
            <a:ext cx="4114800" cy="109696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4983162" y="2378075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 txBox="1"/>
          <p:nvPr/>
        </p:nvSpPr>
        <p:spPr>
          <a:xfrm>
            <a:off x="4983162" y="2519362"/>
            <a:ext cx="457200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84" name="Google Shape;584;p14"/>
          <p:cNvSpPr txBox="1"/>
          <p:nvPr/>
        </p:nvSpPr>
        <p:spPr>
          <a:xfrm>
            <a:off x="5532437" y="2436812"/>
            <a:ext cx="3200400" cy="15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Explicit missing data</a:t>
            </a:r>
            <a:endParaRPr/>
          </a:p>
        </p:txBody>
      </p:sp>
      <p:sp>
        <p:nvSpPr>
          <p:cNvPr id="585" name="Google Shape;585;p14"/>
          <p:cNvSpPr txBox="1"/>
          <p:nvPr/>
        </p:nvSpPr>
        <p:spPr>
          <a:xfrm>
            <a:off x="5532437" y="2820987"/>
            <a:ext cx="32004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confidence=0.0 + cache_missing=True. Gaps surface in the UI instead of silently disappearing.</a:t>
            </a:r>
            <a:endParaRPr/>
          </a:p>
        </p:txBody>
      </p:sp>
      <p:sp>
        <p:nvSpPr>
          <p:cNvPr id="586" name="Google Shape;586;p14"/>
          <p:cNvSpPr txBox="1"/>
          <p:nvPr/>
        </p:nvSpPr>
        <p:spPr>
          <a:xfrm>
            <a:off x="457200" y="3475037"/>
            <a:ext cx="4114800" cy="109696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593725" y="3611562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 txBox="1"/>
          <p:nvPr/>
        </p:nvSpPr>
        <p:spPr>
          <a:xfrm>
            <a:off x="593725" y="3754437"/>
            <a:ext cx="457200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589" name="Google Shape;589;p14"/>
          <p:cNvSpPr txBox="1"/>
          <p:nvPr/>
        </p:nvSpPr>
        <p:spPr>
          <a:xfrm>
            <a:off x="1143000" y="3670300"/>
            <a:ext cx="32004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 JSON contracts</a:t>
            </a:r>
            <a:endParaRPr/>
          </a:p>
        </p:txBody>
      </p:sp>
      <p:sp>
        <p:nvSpPr>
          <p:cNvPr id="590" name="Google Shape;590;p14"/>
          <p:cNvSpPr txBox="1"/>
          <p:nvPr/>
        </p:nvSpPr>
        <p:spPr>
          <a:xfrm>
            <a:off x="1143000" y="4054475"/>
            <a:ext cx="3200400" cy="30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LLM call validates output against a schema. Retry-with-repair on failure. Typed errors on repeated violations.</a:t>
            </a:r>
            <a:endParaRPr/>
          </a:p>
        </p:txBody>
      </p:sp>
      <p:sp>
        <p:nvSpPr>
          <p:cNvPr id="591" name="Google Shape;591;p14"/>
          <p:cNvSpPr txBox="1"/>
          <p:nvPr/>
        </p:nvSpPr>
        <p:spPr>
          <a:xfrm>
            <a:off x="4846637" y="3475037"/>
            <a:ext cx="4114800" cy="109696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4983162" y="3611562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4"/>
          <p:cNvSpPr txBox="1"/>
          <p:nvPr/>
        </p:nvSpPr>
        <p:spPr>
          <a:xfrm>
            <a:off x="4983162" y="3754437"/>
            <a:ext cx="457200" cy="17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594" name="Google Shape;594;p14"/>
          <p:cNvSpPr txBox="1"/>
          <p:nvPr/>
        </p:nvSpPr>
        <p:spPr>
          <a:xfrm>
            <a:off x="5532437" y="3670300"/>
            <a:ext cx="32004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Cloud-ready with zero deps</a:t>
            </a:r>
            <a:endParaRPr/>
          </a:p>
        </p:txBody>
      </p:sp>
      <p:sp>
        <p:nvSpPr>
          <p:cNvPr id="595" name="Google Shape;595;p14"/>
          <p:cNvSpPr txBox="1"/>
          <p:nvPr/>
        </p:nvSpPr>
        <p:spPr>
          <a:xfrm>
            <a:off x="5532437" y="4054475"/>
            <a:ext cx="3200400" cy="30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Render.com with Gunicorn. No external API calls at runtime — runs entirely from local cached files.</a:t>
            </a:r>
            <a:endParaRPr/>
          </a:p>
        </p:txBody>
      </p:sp>
      <p:sp>
        <p:nvSpPr>
          <p:cNvPr id="596" name="Google Shape;596;p14"/>
          <p:cNvSpPr txBox="1"/>
          <p:nvPr/>
        </p:nvSpPr>
        <p:spPr>
          <a:xfrm>
            <a:off x="8275637" y="4732337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8be90bea2_10_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d8be90bea2_10_5"/>
          <p:cNvSpPr txBox="1"/>
          <p:nvPr/>
        </p:nvSpPr>
        <p:spPr>
          <a:xfrm>
            <a:off x="640080" y="182880"/>
            <a:ext cx="7315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LIMITATIONS  ·  FUTURE WORK</a:t>
            </a:r>
            <a:endParaRPr/>
          </a:p>
        </p:txBody>
      </p:sp>
      <p:sp>
        <p:nvSpPr>
          <p:cNvPr id="603" name="Google Shape;603;g3d8be90bea2_10_5"/>
          <p:cNvSpPr txBox="1"/>
          <p:nvPr/>
        </p:nvSpPr>
        <p:spPr>
          <a:xfrm>
            <a:off x="640080" y="457200"/>
            <a:ext cx="786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we'd change and where we'd go next.</a:t>
            </a:r>
            <a:endParaRPr/>
          </a:p>
        </p:txBody>
      </p:sp>
      <p:sp>
        <p:nvSpPr>
          <p:cNvPr id="604" name="Google Shape;604;g3d8be90bea2_10_5"/>
          <p:cNvSpPr txBox="1"/>
          <p:nvPr/>
        </p:nvSpPr>
        <p:spPr>
          <a:xfrm>
            <a:off x="457200" y="868680"/>
            <a:ext cx="4114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605" name="Google Shape;605;g3d8be90bea2_10_5"/>
          <p:cNvSpPr txBox="1"/>
          <p:nvPr/>
        </p:nvSpPr>
        <p:spPr>
          <a:xfrm>
            <a:off x="4846320" y="868680"/>
            <a:ext cx="4114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606" name="Google Shape;606;g3d8be90bea2_10_5"/>
          <p:cNvSpPr/>
          <p:nvPr/>
        </p:nvSpPr>
        <p:spPr>
          <a:xfrm>
            <a:off x="457200" y="1143000"/>
            <a:ext cx="4114800" cy="1097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d8be90bea2_10_5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d8be90bea2_10_5"/>
          <p:cNvSpPr txBox="1"/>
          <p:nvPr/>
        </p:nvSpPr>
        <p:spPr>
          <a:xfrm>
            <a:off x="594360" y="128016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609" name="Google Shape;609;g3d8be90bea2_10_5"/>
          <p:cNvSpPr txBox="1"/>
          <p:nvPr/>
        </p:nvSpPr>
        <p:spPr>
          <a:xfrm>
            <a:off x="1143000" y="123444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data cache</a:t>
            </a:r>
            <a:endParaRPr/>
          </a:p>
        </p:txBody>
      </p:sp>
      <p:sp>
        <p:nvSpPr>
          <p:cNvPr id="610" name="Google Shape;610;g3d8be90bea2_10_5"/>
          <p:cNvSpPr txBox="1"/>
          <p:nvPr/>
        </p:nvSpPr>
        <p:spPr>
          <a:xfrm>
            <a:off x="1143000" y="1600200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Evidence reflects the last pull date. OFAC, court records, and GDELT go stale without a manual refresh.</a:t>
            </a:r>
            <a:endParaRPr/>
          </a:p>
        </p:txBody>
      </p:sp>
      <p:sp>
        <p:nvSpPr>
          <p:cNvPr id="611" name="Google Shape;611;g3d8be90bea2_10_5"/>
          <p:cNvSpPr/>
          <p:nvPr/>
        </p:nvSpPr>
        <p:spPr>
          <a:xfrm>
            <a:off x="457200" y="2377440"/>
            <a:ext cx="4114800" cy="1097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d8be90bea2_10_5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d8be90bea2_10_5"/>
          <p:cNvSpPr txBox="1"/>
          <p:nvPr/>
        </p:nvSpPr>
        <p:spPr>
          <a:xfrm>
            <a:off x="594360" y="251460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614" name="Google Shape;614;g3d8be90bea2_10_5"/>
          <p:cNvSpPr txBox="1"/>
          <p:nvPr/>
        </p:nvSpPr>
        <p:spPr>
          <a:xfrm>
            <a:off x="1143000" y="246888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English-only news signal</a:t>
            </a:r>
            <a:endParaRPr/>
          </a:p>
        </p:txBody>
      </p:sp>
      <p:sp>
        <p:nvSpPr>
          <p:cNvPr id="615" name="Google Shape;615;g3d8be90bea2_10_5"/>
          <p:cNvSpPr txBox="1"/>
          <p:nvPr/>
        </p:nvSpPr>
        <p:spPr>
          <a:xfrm>
            <a:off x="1143000" y="2834640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GDELT is filtered to English articles only. International adverse media in other languages is not captured.</a:t>
            </a:r>
            <a:endParaRPr/>
          </a:p>
        </p:txBody>
      </p:sp>
      <p:sp>
        <p:nvSpPr>
          <p:cNvPr id="616" name="Google Shape;616;g3d8be90bea2_10_5"/>
          <p:cNvSpPr/>
          <p:nvPr/>
        </p:nvSpPr>
        <p:spPr>
          <a:xfrm>
            <a:off x="457200" y="3611880"/>
            <a:ext cx="4114800" cy="1097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d8be90bea2_10_5"/>
          <p:cNvSpPr/>
          <p:nvPr/>
        </p:nvSpPr>
        <p:spPr>
          <a:xfrm>
            <a:off x="594360" y="37490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d8be90bea2_10_5"/>
          <p:cNvSpPr txBox="1"/>
          <p:nvPr/>
        </p:nvSpPr>
        <p:spPr>
          <a:xfrm>
            <a:off x="594360" y="37490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619" name="Google Shape;619;g3d8be90bea2_10_5"/>
          <p:cNvSpPr txBox="1"/>
          <p:nvPr/>
        </p:nvSpPr>
        <p:spPr>
          <a:xfrm>
            <a:off x="1143000" y="370332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Narrative not formally verified</a:t>
            </a:r>
            <a:endParaRPr/>
          </a:p>
        </p:txBody>
      </p:sp>
      <p:sp>
        <p:nvSpPr>
          <p:cNvPr id="620" name="Google Shape;620;g3d8be90bea2_10_5"/>
          <p:cNvSpPr txBox="1"/>
          <p:nvPr/>
        </p:nvSpPr>
        <p:spPr>
          <a:xfrm>
            <a:off x="1143000" y="4069080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LLM narrative is contract-bound but not sentence-level cross-checked against individual evidence rows.</a:t>
            </a:r>
            <a:endParaRPr/>
          </a:p>
        </p:txBody>
      </p:sp>
      <p:sp>
        <p:nvSpPr>
          <p:cNvPr id="621" name="Google Shape;621;g3d8be90bea2_10_5"/>
          <p:cNvSpPr/>
          <p:nvPr/>
        </p:nvSpPr>
        <p:spPr>
          <a:xfrm>
            <a:off x="4846320" y="1143000"/>
            <a:ext cx="4114800" cy="1097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d8be90bea2_10_5"/>
          <p:cNvSpPr/>
          <p:nvPr/>
        </p:nvSpPr>
        <p:spPr>
          <a:xfrm>
            <a:off x="4983480" y="12801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d8be90bea2_10_5"/>
          <p:cNvSpPr txBox="1"/>
          <p:nvPr/>
        </p:nvSpPr>
        <p:spPr>
          <a:xfrm>
            <a:off x="4983480" y="128016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624" name="Google Shape;624;g3d8be90bea2_10_5"/>
          <p:cNvSpPr txBox="1"/>
          <p:nvPr/>
        </p:nvSpPr>
        <p:spPr>
          <a:xfrm>
            <a:off x="5532120" y="123444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Scheduled data refresh</a:t>
            </a:r>
            <a:endParaRPr/>
          </a:p>
        </p:txBody>
      </p:sp>
      <p:sp>
        <p:nvSpPr>
          <p:cNvPr id="625" name="Google Shape;625;g3d8be90bea2_10_5"/>
          <p:cNvSpPr txBox="1"/>
          <p:nvPr/>
        </p:nvSpPr>
        <p:spPr>
          <a:xfrm>
            <a:off x="5532120" y="1600200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Automate nightly pulls for all four sources so every investigation reflects the current day's data.</a:t>
            </a:r>
            <a:endParaRPr/>
          </a:p>
        </p:txBody>
      </p:sp>
      <p:sp>
        <p:nvSpPr>
          <p:cNvPr id="626" name="Google Shape;626;g3d8be90bea2_10_5"/>
          <p:cNvSpPr/>
          <p:nvPr/>
        </p:nvSpPr>
        <p:spPr>
          <a:xfrm>
            <a:off x="4846320" y="2377440"/>
            <a:ext cx="4114800" cy="1097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d8be90bea2_10_5"/>
          <p:cNvSpPr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d8be90bea2_10_5"/>
          <p:cNvSpPr txBox="1"/>
          <p:nvPr/>
        </p:nvSpPr>
        <p:spPr>
          <a:xfrm>
            <a:off x="4983480" y="251460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629" name="Google Shape;629;g3d8be90bea2_10_5"/>
          <p:cNvSpPr txBox="1"/>
          <p:nvPr/>
        </p:nvSpPr>
        <p:spPr>
          <a:xfrm>
            <a:off x="5532120" y="246888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On-demand entity coverage</a:t>
            </a:r>
            <a:endParaRPr/>
          </a:p>
        </p:txBody>
      </p:sp>
      <p:sp>
        <p:nvSpPr>
          <p:cNvPr id="630" name="Google Shape;630;g3d8be90bea2_10_5"/>
          <p:cNvSpPr txBox="1"/>
          <p:nvPr/>
        </p:nvSpPr>
        <p:spPr>
          <a:xfrm>
            <a:off x="5532120" y="2834640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Resolve and pull any public company at query time via SEC EDGAR, removing the five-entity cache limit.</a:t>
            </a:r>
            <a:endParaRPr/>
          </a:p>
        </p:txBody>
      </p:sp>
      <p:sp>
        <p:nvSpPr>
          <p:cNvPr id="631" name="Google Shape;631;g3d8be90bea2_10_5"/>
          <p:cNvSpPr/>
          <p:nvPr/>
        </p:nvSpPr>
        <p:spPr>
          <a:xfrm>
            <a:off x="4846320" y="3611880"/>
            <a:ext cx="4114800" cy="1097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d8be90bea2_10_5"/>
          <p:cNvSpPr/>
          <p:nvPr/>
        </p:nvSpPr>
        <p:spPr>
          <a:xfrm>
            <a:off x="4983480" y="37490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d8be90bea2_10_5"/>
          <p:cNvSpPr txBox="1"/>
          <p:nvPr/>
        </p:nvSpPr>
        <p:spPr>
          <a:xfrm>
            <a:off x="4983480" y="37490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634" name="Google Shape;634;g3d8be90bea2_10_5"/>
          <p:cNvSpPr txBox="1"/>
          <p:nvPr/>
        </p:nvSpPr>
        <p:spPr>
          <a:xfrm>
            <a:off x="5532120" y="370332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 source integration</a:t>
            </a:r>
            <a:endParaRPr/>
          </a:p>
        </p:txBody>
      </p:sp>
      <p:sp>
        <p:nvSpPr>
          <p:cNvPr id="635" name="Google Shape;635;g3d8be90bea2_10_5"/>
          <p:cNvSpPr txBox="1"/>
          <p:nvPr/>
        </p:nvSpPr>
        <p:spPr>
          <a:xfrm>
            <a:off x="5532120" y="4069080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Add licensed data (OpenCorporates, Dun &amp; Bradstreet) to support non-public and international entities.</a:t>
            </a:r>
            <a:endParaRPr/>
          </a:p>
        </p:txBody>
      </p:sp>
      <p:sp>
        <p:nvSpPr>
          <p:cNvPr id="636" name="Google Shape;636;g3d8be90bea2_10_5"/>
          <p:cNvSpPr txBox="1"/>
          <p:nvPr/>
        </p:nvSpPr>
        <p:spPr>
          <a:xfrm>
            <a:off x="8229600" y="4709160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8be90bea2_10_7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d8be90bea2_10_71"/>
          <p:cNvSpPr txBox="1"/>
          <p:nvPr/>
        </p:nvSpPr>
        <p:spPr>
          <a:xfrm>
            <a:off x="640080" y="182880"/>
            <a:ext cx="457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643" name="Google Shape;643;g3d8be90bea2_10_71"/>
          <p:cNvSpPr txBox="1"/>
          <p:nvPr/>
        </p:nvSpPr>
        <p:spPr>
          <a:xfrm>
            <a:off x="640080" y="457200"/>
            <a:ext cx="786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things to take away.</a:t>
            </a:r>
            <a:endParaRPr/>
          </a:p>
        </p:txBody>
      </p:sp>
      <p:sp>
        <p:nvSpPr>
          <p:cNvPr id="644" name="Google Shape;644;g3d8be90bea2_10_71"/>
          <p:cNvSpPr/>
          <p:nvPr/>
        </p:nvSpPr>
        <p:spPr>
          <a:xfrm>
            <a:off x="457200" y="1078992"/>
            <a:ext cx="8229600" cy="9600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d8be90bea2_10_71"/>
          <p:cNvSpPr/>
          <p:nvPr/>
        </p:nvSpPr>
        <p:spPr>
          <a:xfrm>
            <a:off x="457200" y="1078992"/>
            <a:ext cx="1417200" cy="96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d8be90bea2_10_71"/>
          <p:cNvSpPr txBox="1"/>
          <p:nvPr/>
        </p:nvSpPr>
        <p:spPr>
          <a:xfrm>
            <a:off x="457200" y="1428198"/>
            <a:ext cx="141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/>
          </a:p>
        </p:txBody>
      </p:sp>
      <p:sp>
        <p:nvSpPr>
          <p:cNvPr id="647" name="Google Shape;647;g3d8be90bea2_10_71"/>
          <p:cNvSpPr txBox="1"/>
          <p:nvPr/>
        </p:nvSpPr>
        <p:spPr>
          <a:xfrm>
            <a:off x="2057400" y="1316745"/>
            <a:ext cx="662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seven-layer, multi-agent OSINT system that turns a plain-English query into a fully cited financial misconduct report  pulling from 4 public sources and returning 1,000+ evidence rows in under </a:t>
            </a: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seconds.</a:t>
            </a:r>
            <a:endParaRPr/>
          </a:p>
        </p:txBody>
      </p:sp>
      <p:sp>
        <p:nvSpPr>
          <p:cNvPr id="648" name="Google Shape;648;g3d8be90bea2_10_71"/>
          <p:cNvSpPr/>
          <p:nvPr/>
        </p:nvSpPr>
        <p:spPr>
          <a:xfrm>
            <a:off x="457200" y="2176272"/>
            <a:ext cx="8229600" cy="9600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d8be90bea2_10_71"/>
          <p:cNvSpPr/>
          <p:nvPr/>
        </p:nvSpPr>
        <p:spPr>
          <a:xfrm>
            <a:off x="457200" y="2176272"/>
            <a:ext cx="1417200" cy="96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d8be90bea2_10_71"/>
          <p:cNvSpPr txBox="1"/>
          <p:nvPr/>
        </p:nvSpPr>
        <p:spPr>
          <a:xfrm>
            <a:off x="457200" y="2525472"/>
            <a:ext cx="141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WHAT WE PROVED</a:t>
            </a:r>
            <a:endParaRPr/>
          </a:p>
        </p:txBody>
      </p:sp>
      <p:sp>
        <p:nvSpPr>
          <p:cNvPr id="651" name="Google Shape;651;g3d8be90bea2_10_71"/>
          <p:cNvSpPr txBox="1"/>
          <p:nvPr/>
        </p:nvSpPr>
        <p:spPr>
          <a:xfrm>
            <a:off x="2057400" y="2402587"/>
            <a:ext cx="662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× faster than a manual analyst. 97.7% citation rate across 5 entities in 3 industries. Full 4/4 source coverage every run. Verified by 219 unit tests across all 8 system layers.</a:t>
            </a:r>
            <a:endParaRPr/>
          </a:p>
        </p:txBody>
      </p:sp>
      <p:sp>
        <p:nvSpPr>
          <p:cNvPr id="652" name="Google Shape;652;g3d8be90bea2_10_71"/>
          <p:cNvSpPr/>
          <p:nvPr/>
        </p:nvSpPr>
        <p:spPr>
          <a:xfrm>
            <a:off x="457200" y="3273552"/>
            <a:ext cx="8229600" cy="9600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d8be90bea2_10_71"/>
          <p:cNvSpPr/>
          <p:nvPr/>
        </p:nvSpPr>
        <p:spPr>
          <a:xfrm>
            <a:off x="457200" y="3273552"/>
            <a:ext cx="1417200" cy="96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d8be90bea2_10_71"/>
          <p:cNvSpPr txBox="1"/>
          <p:nvPr/>
        </p:nvSpPr>
        <p:spPr>
          <a:xfrm>
            <a:off x="457200" y="3573027"/>
            <a:ext cx="141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923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/>
          </a:p>
        </p:txBody>
      </p:sp>
      <p:sp>
        <p:nvSpPr>
          <p:cNvPr id="655" name="Google Shape;655;g3d8be90bea2_10_71"/>
          <p:cNvSpPr txBox="1"/>
          <p:nvPr/>
        </p:nvSpPr>
        <p:spPr>
          <a:xfrm>
            <a:off x="2057400" y="3488417"/>
            <a:ext cx="662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Automated nightly data refresh · on-demand resolution for any public company · private and international source integration (OpenCorporates, Dun &amp; Bradstreet) · multi-language adverse media support.</a:t>
            </a:r>
            <a:endParaRPr/>
          </a:p>
        </p:txBody>
      </p:sp>
      <p:sp>
        <p:nvSpPr>
          <p:cNvPr id="656" name="Google Shape;656;g3d8be90bea2_10_71"/>
          <p:cNvSpPr txBox="1"/>
          <p:nvPr/>
        </p:nvSpPr>
        <p:spPr>
          <a:xfrm>
            <a:off x="8229600" y="4709160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5"/>
          <p:cNvSpPr txBox="1"/>
          <p:nvPr/>
        </p:nvSpPr>
        <p:spPr>
          <a:xfrm>
            <a:off x="0" y="0"/>
            <a:ext cx="91440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 txBox="1"/>
          <p:nvPr/>
        </p:nvSpPr>
        <p:spPr>
          <a:xfrm>
            <a:off x="685800" y="223837"/>
            <a:ext cx="4479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THE TEAM</a:t>
            </a:r>
            <a:endParaRPr/>
          </a:p>
        </p:txBody>
      </p:sp>
      <p:sp>
        <p:nvSpPr>
          <p:cNvPr id="663" name="Google Shape;663;p15"/>
          <p:cNvSpPr txBox="1"/>
          <p:nvPr/>
        </p:nvSpPr>
        <p:spPr>
          <a:xfrm>
            <a:off x="685800" y="420687"/>
            <a:ext cx="7223125" cy="48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US" sz="2200" u="non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Five engineers. One semester. One system.</a:t>
            </a:r>
            <a:endParaRPr/>
          </a:p>
        </p:txBody>
      </p:sp>
      <p:sp>
        <p:nvSpPr>
          <p:cNvPr id="664" name="Google Shape;664;p15"/>
          <p:cNvSpPr txBox="1"/>
          <p:nvPr/>
        </p:nvSpPr>
        <p:spPr>
          <a:xfrm>
            <a:off x="274637" y="1096962"/>
            <a:ext cx="1600200" cy="34750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 txBox="1"/>
          <p:nvPr/>
        </p:nvSpPr>
        <p:spPr>
          <a:xfrm>
            <a:off x="274637" y="1096962"/>
            <a:ext cx="1600200" cy="5556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685800" y="1371600"/>
            <a:ext cx="777875" cy="777875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5"/>
          <p:cNvSpPr txBox="1"/>
          <p:nvPr/>
        </p:nvSpPr>
        <p:spPr>
          <a:xfrm>
            <a:off x="685800" y="1582737"/>
            <a:ext cx="7778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TS</a:t>
            </a:r>
            <a:endParaRPr/>
          </a:p>
        </p:txBody>
      </p:sp>
      <p:sp>
        <p:nvSpPr>
          <p:cNvPr id="668" name="Google Shape;668;p15"/>
          <p:cNvSpPr txBox="1"/>
          <p:nvPr/>
        </p:nvSpPr>
        <p:spPr>
          <a:xfrm>
            <a:off x="320675" y="2401887"/>
            <a:ext cx="15081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Taljinder Singh</a:t>
            </a:r>
            <a:endParaRPr/>
          </a:p>
        </p:txBody>
      </p:sp>
      <p:sp>
        <p:nvSpPr>
          <p:cNvPr id="669" name="Google Shape;669;p15"/>
          <p:cNvSpPr txBox="1"/>
          <p:nvPr/>
        </p:nvSpPr>
        <p:spPr>
          <a:xfrm>
            <a:off x="365125" y="3324225"/>
            <a:ext cx="14176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sources &amp; preprocessing — five raw connectors, EDA, cached corpora.</a:t>
            </a:r>
            <a:endParaRPr/>
          </a:p>
        </p:txBody>
      </p:sp>
      <p:sp>
        <p:nvSpPr>
          <p:cNvPr id="670" name="Google Shape;670;p15"/>
          <p:cNvSpPr txBox="1"/>
          <p:nvPr/>
        </p:nvSpPr>
        <p:spPr>
          <a:xfrm>
            <a:off x="2011362" y="1096962"/>
            <a:ext cx="1600200" cy="34750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 txBox="1"/>
          <p:nvPr/>
        </p:nvSpPr>
        <p:spPr>
          <a:xfrm>
            <a:off x="2011362" y="1096962"/>
            <a:ext cx="1600200" cy="5556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2422525" y="1371600"/>
            <a:ext cx="777875" cy="777875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 txBox="1"/>
          <p:nvPr/>
        </p:nvSpPr>
        <p:spPr>
          <a:xfrm>
            <a:off x="2422525" y="1582737"/>
            <a:ext cx="7778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AM</a:t>
            </a:r>
            <a:endParaRPr/>
          </a:p>
        </p:txBody>
      </p:sp>
      <p:sp>
        <p:nvSpPr>
          <p:cNvPr id="674" name="Google Shape;674;p15"/>
          <p:cNvSpPr txBox="1"/>
          <p:nvPr/>
        </p:nvSpPr>
        <p:spPr>
          <a:xfrm>
            <a:off x="2057400" y="2401887"/>
            <a:ext cx="15081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Arnab Mitra</a:t>
            </a:r>
            <a:endParaRPr/>
          </a:p>
        </p:txBody>
      </p:sp>
      <p:sp>
        <p:nvSpPr>
          <p:cNvPr id="675" name="Google Shape;675;p15"/>
          <p:cNvSpPr txBox="1"/>
          <p:nvPr/>
        </p:nvSpPr>
        <p:spPr>
          <a:xfrm>
            <a:off x="2103437" y="3324225"/>
            <a:ext cx="14176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 backend — orchestrator, 3 specialist agents, MCP, reflexion, output, graph.</a:t>
            </a:r>
            <a:endParaRPr/>
          </a:p>
        </p:txBody>
      </p:sp>
      <p:sp>
        <p:nvSpPr>
          <p:cNvPr id="676" name="Google Shape;676;p15"/>
          <p:cNvSpPr txBox="1"/>
          <p:nvPr/>
        </p:nvSpPr>
        <p:spPr>
          <a:xfrm>
            <a:off x="3749675" y="1096962"/>
            <a:ext cx="1600200" cy="34750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 txBox="1"/>
          <p:nvPr/>
        </p:nvSpPr>
        <p:spPr>
          <a:xfrm>
            <a:off x="3749675" y="1096962"/>
            <a:ext cx="1600200" cy="5556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4160837" y="1371600"/>
            <a:ext cx="776287" cy="777875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 txBox="1"/>
          <p:nvPr/>
        </p:nvSpPr>
        <p:spPr>
          <a:xfrm>
            <a:off x="4160837" y="1582737"/>
            <a:ext cx="7762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RM</a:t>
            </a:r>
            <a:endParaRPr/>
          </a:p>
        </p:txBody>
      </p:sp>
      <p:sp>
        <p:nvSpPr>
          <p:cNvPr id="680" name="Google Shape;680;p15"/>
          <p:cNvSpPr txBox="1"/>
          <p:nvPr/>
        </p:nvSpPr>
        <p:spPr>
          <a:xfrm>
            <a:off x="3794125" y="2401887"/>
            <a:ext cx="15097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Raj Kumar Mahto</a:t>
            </a:r>
            <a:endParaRPr/>
          </a:p>
        </p:txBody>
      </p:sp>
      <p:sp>
        <p:nvSpPr>
          <p:cNvPr id="681" name="Google Shape;681;p15"/>
          <p:cNvSpPr txBox="1"/>
          <p:nvPr/>
        </p:nvSpPr>
        <p:spPr>
          <a:xfrm>
            <a:off x="3840162" y="3324225"/>
            <a:ext cx="14176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Task planner &amp; context manager — shared state across the agent swarm.</a:t>
            </a:r>
            <a:endParaRPr/>
          </a:p>
        </p:txBody>
      </p:sp>
      <p:sp>
        <p:nvSpPr>
          <p:cNvPr id="682" name="Google Shape;682;p15"/>
          <p:cNvSpPr txBox="1"/>
          <p:nvPr/>
        </p:nvSpPr>
        <p:spPr>
          <a:xfrm>
            <a:off x="503237" y="4738687"/>
            <a:ext cx="81375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AUTONOMOUS OSINT INVESTIGATION SWARM  ·  ARIZONA STATE UNIVERSITY  ·  FSE 570</a:t>
            </a:r>
            <a:endParaRPr/>
          </a:p>
        </p:txBody>
      </p:sp>
      <p:sp>
        <p:nvSpPr>
          <p:cNvPr id="683" name="Google Shape;683;p15"/>
          <p:cNvSpPr txBox="1"/>
          <p:nvPr/>
        </p:nvSpPr>
        <p:spPr>
          <a:xfrm>
            <a:off x="8275637" y="4710112"/>
            <a:ext cx="547687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684" name="Google Shape;684;p15"/>
          <p:cNvSpPr txBox="1"/>
          <p:nvPr/>
        </p:nvSpPr>
        <p:spPr>
          <a:xfrm>
            <a:off x="5486400" y="1096962"/>
            <a:ext cx="1600200" cy="347503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 txBox="1"/>
          <p:nvPr/>
        </p:nvSpPr>
        <p:spPr>
          <a:xfrm>
            <a:off x="5486400" y="1084262"/>
            <a:ext cx="1600200" cy="5556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5897562" y="1366837"/>
            <a:ext cx="777875" cy="777875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 txBox="1"/>
          <p:nvPr/>
        </p:nvSpPr>
        <p:spPr>
          <a:xfrm>
            <a:off x="5897562" y="1582737"/>
            <a:ext cx="7778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JK</a:t>
            </a:r>
            <a:endParaRPr/>
          </a:p>
        </p:txBody>
      </p:sp>
      <p:sp>
        <p:nvSpPr>
          <p:cNvPr id="688" name="Google Shape;688;p15"/>
          <p:cNvSpPr txBox="1"/>
          <p:nvPr/>
        </p:nvSpPr>
        <p:spPr>
          <a:xfrm>
            <a:off x="5532437" y="2401887"/>
            <a:ext cx="15081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Jacob Kuriakose</a:t>
            </a:r>
            <a:endParaRPr/>
          </a:p>
        </p:txBody>
      </p:sp>
      <p:sp>
        <p:nvSpPr>
          <p:cNvPr id="689" name="Google Shape;689;p15"/>
          <p:cNvSpPr txBox="1"/>
          <p:nvPr/>
        </p:nvSpPr>
        <p:spPr>
          <a:xfrm>
            <a:off x="5578475" y="3254375"/>
            <a:ext cx="14160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Deployment, LLM integration, auto entity resolution, NetworkX analysis, frontend, docs.</a:t>
            </a:r>
            <a:endParaRPr/>
          </a:p>
        </p:txBody>
      </p:sp>
      <p:sp>
        <p:nvSpPr>
          <p:cNvPr id="690" name="Google Shape;690;p15"/>
          <p:cNvSpPr txBox="1"/>
          <p:nvPr/>
        </p:nvSpPr>
        <p:spPr>
          <a:xfrm>
            <a:off x="7223125" y="1069975"/>
            <a:ext cx="1600200" cy="3474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5"/>
          <p:cNvSpPr txBox="1"/>
          <p:nvPr/>
        </p:nvSpPr>
        <p:spPr>
          <a:xfrm>
            <a:off x="7223125" y="1063637"/>
            <a:ext cx="1600200" cy="55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7635875" y="1371600"/>
            <a:ext cx="776287" cy="777875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 txBox="1"/>
          <p:nvPr/>
        </p:nvSpPr>
        <p:spPr>
          <a:xfrm>
            <a:off x="7635875" y="1582737"/>
            <a:ext cx="7762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AP</a:t>
            </a:r>
            <a:endParaRPr/>
          </a:p>
        </p:txBody>
      </p:sp>
      <p:sp>
        <p:nvSpPr>
          <p:cNvPr id="694" name="Google Shape;694;p15"/>
          <p:cNvSpPr txBox="1"/>
          <p:nvPr/>
        </p:nvSpPr>
        <p:spPr>
          <a:xfrm>
            <a:off x="7269162" y="2401887"/>
            <a:ext cx="15097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Aditya Pokharna</a:t>
            </a:r>
            <a:endParaRPr/>
          </a:p>
        </p:txBody>
      </p:sp>
      <p:sp>
        <p:nvSpPr>
          <p:cNvPr id="695" name="Google Shape;695;p15"/>
          <p:cNvSpPr txBox="1"/>
          <p:nvPr/>
        </p:nvSpPr>
        <p:spPr>
          <a:xfrm>
            <a:off x="7315200" y="3324225"/>
            <a:ext cx="14176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Flask UI — query form, 5-tab results, risk viz, vis-network knowledge graph.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